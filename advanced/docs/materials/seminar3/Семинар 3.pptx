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147377467" r:id="rId3"/>
    <p:sldId id="2147377475" r:id="rId4"/>
    <p:sldId id="2147377420" r:id="rId5"/>
    <p:sldId id="2147377484" r:id="rId6"/>
    <p:sldId id="2147377446" r:id="rId7"/>
    <p:sldId id="2147377558" r:id="rId8"/>
    <p:sldId id="2147377557" r:id="rId9"/>
    <p:sldId id="2147377487" r:id="rId10"/>
    <p:sldId id="2147377559" r:id="rId11"/>
    <p:sldId id="2147377505" r:id="rId12"/>
    <p:sldId id="2147377560" r:id="rId13"/>
    <p:sldId id="2147377586" r:id="rId14"/>
    <p:sldId id="2147377587" r:id="rId15"/>
    <p:sldId id="2147377588" r:id="rId16"/>
    <p:sldId id="2147377589" r:id="rId17"/>
    <p:sldId id="2147377590" r:id="rId18"/>
    <p:sldId id="2147377591" r:id="rId19"/>
    <p:sldId id="2147377592" r:id="rId20"/>
    <p:sldId id="272" r:id="rId21"/>
    <p:sldId id="2147377504" r:id="rId22"/>
    <p:sldId id="2147377465" r:id="rId23"/>
    <p:sldId id="2147377466" r:id="rId24"/>
    <p:sldId id="275" r:id="rId25"/>
  </p:sldIdLst>
  <p:sldSz cx="19799300" cy="11160125"/>
  <p:notesSz cx="6858000" cy="9144000"/>
  <p:embeddedFontLst>
    <p:embeddedFont>
      <p:font typeface="T-Sans" pitchFamily="2" charset="77"/>
      <p:regular r:id="rId28"/>
      <p:bold r:id="rId29"/>
    </p:embeddedFont>
    <p:embeddedFont>
      <p:font typeface="T-Sans Medium" pitchFamily="2" charset="77"/>
      <p:regular r:id="rId30"/>
    </p:embeddedFont>
    <p:embeddedFont>
      <p:font typeface="Tinkoff Sans" panose="02000506050000020004" pitchFamily="2" charset="77"/>
      <p:regular r:id="rId31"/>
      <p:bold r:id="rId32"/>
    </p:embeddedFont>
  </p:embeddedFontLst>
  <p:defaultTextStyle>
    <a:defPPr marL="0" marR="0" indent="0" algn="l" defTabSz="90006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1pPr>
    <a:lvl2pPr marL="0" marR="0" indent="450029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2pPr>
    <a:lvl3pPr marL="0" marR="0" indent="90006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3pPr>
    <a:lvl4pPr marL="0" marR="0" indent="135008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4pPr>
    <a:lvl5pPr marL="0" marR="0" indent="180012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5pPr>
    <a:lvl6pPr marL="0" marR="0" indent="225014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6pPr>
    <a:lvl7pPr marL="0" marR="0" indent="2700177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7pPr>
    <a:lvl8pPr marL="0" marR="0" indent="315020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8pPr>
    <a:lvl9pPr marL="0" marR="0" indent="3600237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9pPr>
  </p:defaultTextStyle>
  <p:extLst>
    <p:ext uri="{EFAFB233-063F-42B5-8137-9DF3F51BA10A}">
      <p15:sldGuideLst xmlns:p15="http://schemas.microsoft.com/office/powerpoint/2012/main">
        <p15:guide id="1" pos="861" userDrawn="1">
          <p15:clr>
            <a:srgbClr val="A4A3A4"/>
          </p15:clr>
        </p15:guide>
        <p15:guide id="2" orient="horz" pos="8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2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459"/>
    <a:srgbClr val="EBEBEC"/>
    <a:srgbClr val="FFE45A"/>
    <a:srgbClr val="FFE45C"/>
    <a:srgbClr val="B5B1EF"/>
    <a:srgbClr val="EFF1F2"/>
    <a:srgbClr val="FFEE96"/>
    <a:srgbClr val="F1EFFB"/>
    <a:srgbClr val="FFE1D5"/>
    <a:srgbClr val="E6F3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EACB"/>
          </a:solidFill>
        </a:fill>
      </a:tcStyle>
    </a:wholeTbl>
    <a:band2H>
      <a:tcTxStyle/>
      <a:tcStyle>
        <a:tcBdr/>
        <a:fill>
          <a:solidFill>
            <a:srgbClr val="FEF5E7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0D0"/>
          </a:solidFill>
        </a:fill>
      </a:tcStyle>
    </a:wholeTbl>
    <a:band2H>
      <a:tcTxStyle/>
      <a:tcStyle>
        <a:tcBdr/>
        <a:fill>
          <a:solidFill>
            <a:srgbClr val="E9E9E9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CCFF"/>
          </a:solidFill>
        </a:fill>
      </a:tcStyle>
    </a:wholeTbl>
    <a:band2H>
      <a:tcTxStyle/>
      <a:tcStyle>
        <a:tcBdr/>
        <a:fill>
          <a:solidFill>
            <a:srgbClr val="EAE7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>
              <a:lumOff val="3235"/>
            </a:scheme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chemeClr val="accent2">
              <a:lumOff val="3235"/>
            </a:schemeClr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620"/>
    <p:restoredTop sz="93384"/>
  </p:normalViewPr>
  <p:slideViewPr>
    <p:cSldViewPr snapToGrid="0" snapToObjects="1" showGuides="1">
      <p:cViewPr>
        <p:scale>
          <a:sx n="93" d="100"/>
          <a:sy n="93" d="100"/>
        </p:scale>
        <p:origin x="720" y="216"/>
      </p:cViewPr>
      <p:guideLst>
        <p:guide pos="861"/>
        <p:guide orient="horz" pos="8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napToObjects="1" showGuides="1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font" Target="fonts/font3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83D989E-EF15-6F48-AA4B-731FAEF118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C4CF683-EEF1-4645-87EB-D55DCC4953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206CE-BBC7-5648-9AD8-918B797FE8E8}" type="datetimeFigureOut">
              <a:rPr lang="ru-RU" smtClean="0">
                <a:latin typeface="T-Sans" pitchFamily="2" charset="0"/>
                <a:ea typeface="T-Sans" pitchFamily="2" charset="0"/>
              </a:rPr>
              <a:t>23.09.2026</a:t>
            </a:fld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89581FD-2C33-5D4D-8228-B60CABE32A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B57F81C-FF75-FE4D-AA1C-3BDE570DF5A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E2138-0C2A-DB4B-942A-F7E05EC66FCB}" type="slidenum">
              <a:rPr lang="ru-RU" smtClean="0">
                <a:latin typeface="T-Sans" pitchFamily="2" charset="0"/>
                <a:ea typeface="T-Sans" pitchFamily="2" charset="0"/>
              </a:rPr>
              <a:t>‹#›</a:t>
            </a:fld>
            <a:endParaRPr lang="ru-RU" dirty="0"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7169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Shape 86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862" name="Shape 86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latinLnBrk="0">
      <a:defRPr sz="1378" b="0" i="0">
        <a:solidFill>
          <a:schemeClr val="tx1"/>
        </a:solidFill>
        <a:latin typeface="T-Sans" pitchFamily="2" charset="0"/>
        <a:ea typeface="+mj-ea"/>
        <a:cs typeface="+mj-cs"/>
        <a:sym typeface="Calibri"/>
      </a:defRPr>
    </a:lvl1pPr>
    <a:lvl2pPr indent="225015" latinLnBrk="0">
      <a:defRPr sz="1181">
        <a:latin typeface="+mj-lt"/>
        <a:ea typeface="+mj-ea"/>
        <a:cs typeface="+mj-cs"/>
        <a:sym typeface="Calibri"/>
      </a:defRPr>
    </a:lvl2pPr>
    <a:lvl3pPr indent="450029" latinLnBrk="0">
      <a:defRPr sz="1181">
        <a:latin typeface="+mj-lt"/>
        <a:ea typeface="+mj-ea"/>
        <a:cs typeface="+mj-cs"/>
        <a:sym typeface="Calibri"/>
      </a:defRPr>
    </a:lvl3pPr>
    <a:lvl4pPr indent="675045" latinLnBrk="0">
      <a:defRPr sz="1181">
        <a:latin typeface="+mj-lt"/>
        <a:ea typeface="+mj-ea"/>
        <a:cs typeface="+mj-cs"/>
        <a:sym typeface="Calibri"/>
      </a:defRPr>
    </a:lvl4pPr>
    <a:lvl5pPr indent="900060" latinLnBrk="0">
      <a:defRPr sz="1181">
        <a:latin typeface="+mj-lt"/>
        <a:ea typeface="+mj-ea"/>
        <a:cs typeface="+mj-cs"/>
        <a:sym typeface="Calibri"/>
      </a:defRPr>
    </a:lvl5pPr>
    <a:lvl6pPr indent="1125075" latinLnBrk="0">
      <a:defRPr sz="1181">
        <a:latin typeface="+mj-lt"/>
        <a:ea typeface="+mj-ea"/>
        <a:cs typeface="+mj-cs"/>
        <a:sym typeface="Calibri"/>
      </a:defRPr>
    </a:lvl6pPr>
    <a:lvl7pPr indent="1350086" latinLnBrk="0">
      <a:defRPr sz="1181">
        <a:latin typeface="+mj-lt"/>
        <a:ea typeface="+mj-ea"/>
        <a:cs typeface="+mj-cs"/>
        <a:sym typeface="Calibri"/>
      </a:defRPr>
    </a:lvl7pPr>
    <a:lvl8pPr indent="1575102" latinLnBrk="0">
      <a:defRPr sz="1181">
        <a:latin typeface="+mj-lt"/>
        <a:ea typeface="+mj-ea"/>
        <a:cs typeface="+mj-cs"/>
        <a:sym typeface="Calibri"/>
      </a:defRPr>
    </a:lvl8pPr>
    <a:lvl9pPr indent="1800120" latinLnBrk="0">
      <a:defRPr sz="1181">
        <a:latin typeface="+mj-lt"/>
        <a:ea typeface="+mj-ea"/>
        <a:cs typeface="+mj-cs"/>
        <a:sym typeface="Calibri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0073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94129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516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5185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_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5DF84A1A-3892-BEBC-E3CB-B413F84BF63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409919"/>
            <a:ext cx="1068946" cy="246221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 b="0" i="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0F6A44-6D52-9D3E-2A26-DB5B259C8297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C125966-8232-9AC4-8683-EE4F730CAC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5759176" cy="1116012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55D350B-6697-71DD-45DA-AAE4591C9ED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224688" y="1779477"/>
            <a:ext cx="4394057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63035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9" pos="5170" userDrawn="1">
          <p15:clr>
            <a:srgbClr val="FBAE40"/>
          </p15:clr>
        </p15:guide>
        <p15:guide id="24" orient="horz" pos="1111" userDrawn="1">
          <p15:clr>
            <a:srgbClr val="FBAE40"/>
          </p15:clr>
        </p15:guide>
        <p15:guide id="26" orient="horz" pos="1542" userDrawn="1">
          <p15:clr>
            <a:srgbClr val="FBAE40"/>
          </p15:clr>
        </p15:guide>
        <p15:guide id="30" orient="horz" pos="2653" userDrawn="1">
          <p15:clr>
            <a:srgbClr val="FBAE40"/>
          </p15:clr>
        </p15:guide>
        <p15:guide id="39" orient="horz" pos="4422" userDrawn="1">
          <p15:clr>
            <a:srgbClr val="FBAE40"/>
          </p15:clr>
        </p15:guide>
        <p15:guide id="43" orient="horz" pos="5533" userDrawn="1">
          <p15:clr>
            <a:srgbClr val="FBAE40"/>
          </p15:clr>
        </p15:guide>
        <p15:guide id="44" orient="horz" pos="591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_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A8CCF61-34E1-A7FE-253D-38968BB9DED6}"/>
              </a:ext>
            </a:extLst>
          </p:cNvPr>
          <p:cNvSpPr/>
          <p:nvPr userDrawn="1"/>
        </p:nvSpPr>
        <p:spPr>
          <a:xfrm>
            <a:off x="611188" y="647699"/>
            <a:ext cx="18576925" cy="9864725"/>
          </a:xfrm>
          <a:prstGeom prst="roundRect">
            <a:avLst>
              <a:gd name="adj" fmla="val 5394"/>
            </a:avLst>
          </a:prstGeom>
          <a:gradFill>
            <a:gsLst>
              <a:gs pos="100000">
                <a:srgbClr val="E0E1E3"/>
              </a:gs>
              <a:gs pos="0">
                <a:srgbClr val="F3F3F5">
                  <a:alpha val="80477"/>
                </a:srgbClr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solidFill>
                <a:srgbClr val="000000"/>
              </a:solidFill>
              <a:latin typeface="T-Sans" pitchFamily="2" charset="0"/>
              <a:ea typeface="T-Sans" pitchFamily="2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189F2E-9007-1111-5F2A-7177336F66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10389" y="1510158"/>
            <a:ext cx="488571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04275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_4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09E0DDE-5486-2C50-C638-7E159326B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4C97689-0B14-BAB4-075D-08F8243A70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512104" y="1510158"/>
            <a:ext cx="488228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9202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ерная плаш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542BA4A3-BD66-B6CA-B053-0172A84AC9E4}"/>
              </a:ext>
            </a:extLst>
          </p:cNvPr>
          <p:cNvSpPr/>
          <p:nvPr userDrawn="1"/>
        </p:nvSpPr>
        <p:spPr>
          <a:xfrm>
            <a:off x="611188" y="647700"/>
            <a:ext cx="18576925" cy="9864725"/>
          </a:xfrm>
          <a:prstGeom prst="roundRect">
            <a:avLst>
              <a:gd name="adj" fmla="val 6279"/>
            </a:avLst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AC7EC11E-6AF4-DD27-3F92-218937F2CF6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461441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Желтая плашка с засвет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AE23A0-AACE-ADD6-0628-A911DAE569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AE3D09BE-CDCC-BEAE-26D7-66AC1CF209B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63380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ерая плаш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542BA4A3-BD66-B6CA-B053-0172A84AC9E4}"/>
              </a:ext>
            </a:extLst>
          </p:cNvPr>
          <p:cNvSpPr/>
          <p:nvPr userDrawn="1"/>
        </p:nvSpPr>
        <p:spPr>
          <a:xfrm>
            <a:off x="611188" y="647700"/>
            <a:ext cx="18576000" cy="9864725"/>
          </a:xfrm>
          <a:prstGeom prst="roundRect">
            <a:avLst>
              <a:gd name="adj" fmla="val 6279"/>
            </a:avLst>
          </a:prstGeom>
          <a:gradFill>
            <a:gsLst>
              <a:gs pos="0">
                <a:schemeClr val="accent4"/>
              </a:gs>
              <a:gs pos="100000">
                <a:schemeClr val="accent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2FBF9586-44EC-4E13-AED7-14C258C34AF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423253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ерная плашка с засвет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FB69617-8869-9649-F99C-69FDA9C1E2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7" b="217"/>
          <a:stretch/>
        </p:blipFill>
        <p:spPr>
          <a:xfrm>
            <a:off x="611187" y="647700"/>
            <a:ext cx="18576925" cy="9864724"/>
          </a:xfrm>
          <a:prstGeom prst="roundRect">
            <a:avLst>
              <a:gd name="adj" fmla="val 6471"/>
            </a:avLst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11C91763-0915-F4BA-6A23-BA87B1885B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637695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>
          <p15:clr>
            <a:srgbClr val="FBAE40"/>
          </p15:clr>
        </p15:guide>
        <p15:guide id="2" pos="11611">
          <p15:clr>
            <a:srgbClr val="FBAE40"/>
          </p15:clr>
        </p15:guide>
        <p15:guide id="23" orient="horz" pos="861">
          <p15:clr>
            <a:srgbClr val="FBAE40"/>
          </p15:clr>
        </p15:guide>
        <p15:guide id="24" orient="horz" pos="616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бел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D00FDC96-810D-CFD9-6E58-04A3A2505CD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685405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ер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43B8BAC9-FAA7-A835-C391-1C05B6AFA15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005169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желт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0F6A44-6D52-9D3E-2A26-DB5B259C8297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8B3D8D3C-755C-BEF7-93C5-FD572759185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38802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 userDrawn="1">
          <p15:clr>
            <a:srgbClr val="FBAE40"/>
          </p15:clr>
        </p15:guide>
        <p15:guide id="2" pos="1383" userDrawn="1">
          <p15:clr>
            <a:srgbClr val="FBAE40"/>
          </p15:clr>
        </p15:guide>
        <p15:guide id="3" pos="2199" userDrawn="1">
          <p15:clr>
            <a:srgbClr val="FBAE40"/>
          </p15:clr>
        </p15:guide>
        <p15:guide id="4" pos="2358" userDrawn="1">
          <p15:clr>
            <a:srgbClr val="FBAE40"/>
          </p15:clr>
        </p15:guide>
        <p15:guide id="5" pos="3197" userDrawn="1">
          <p15:clr>
            <a:srgbClr val="FBAE40"/>
          </p15:clr>
        </p15:guide>
        <p15:guide id="6" pos="3356" userDrawn="1">
          <p15:clr>
            <a:srgbClr val="FBAE40"/>
          </p15:clr>
        </p15:guide>
        <p15:guide id="7" pos="4172" userDrawn="1">
          <p15:clr>
            <a:srgbClr val="FBAE40"/>
          </p15:clr>
        </p15:guide>
        <p15:guide id="8" pos="4331" userDrawn="1">
          <p15:clr>
            <a:srgbClr val="FBAE40"/>
          </p15:clr>
        </p15:guide>
        <p15:guide id="9" pos="5170" userDrawn="1">
          <p15:clr>
            <a:srgbClr val="FBAE40"/>
          </p15:clr>
        </p15:guide>
        <p15:guide id="10" pos="5329" userDrawn="1">
          <p15:clr>
            <a:srgbClr val="FBAE40"/>
          </p15:clr>
        </p15:guide>
        <p15:guide id="11" pos="6168" userDrawn="1">
          <p15:clr>
            <a:srgbClr val="FBAE40"/>
          </p15:clr>
        </p15:guide>
        <p15:guide id="12" pos="6327" userDrawn="1">
          <p15:clr>
            <a:srgbClr val="FBAE40"/>
          </p15:clr>
        </p15:guide>
        <p15:guide id="13" pos="7143" userDrawn="1">
          <p15:clr>
            <a:srgbClr val="FBAE40"/>
          </p15:clr>
        </p15:guide>
        <p15:guide id="14" pos="7302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17" pos="9116" userDrawn="1">
          <p15:clr>
            <a:srgbClr val="FBAE40"/>
          </p15:clr>
        </p15:guide>
        <p15:guide id="18" pos="9275" userDrawn="1">
          <p15:clr>
            <a:srgbClr val="FBAE40"/>
          </p15:clr>
        </p15:guide>
        <p15:guide id="19" pos="10092" userDrawn="1">
          <p15:clr>
            <a:srgbClr val="FBAE40"/>
          </p15:clr>
        </p15:guide>
        <p15:guide id="20" pos="10250" userDrawn="1">
          <p15:clr>
            <a:srgbClr val="FBAE40"/>
          </p15:clr>
        </p15:guide>
        <p15:guide id="21" pos="11089" userDrawn="1">
          <p15:clr>
            <a:srgbClr val="FBAE40"/>
          </p15:clr>
        </p15:guide>
        <p15:guide id="22" pos="11248" userDrawn="1">
          <p15:clr>
            <a:srgbClr val="FBAE40"/>
          </p15:clr>
        </p15:guide>
        <p15:guide id="23" orient="horz" pos="771" userDrawn="1">
          <p15:clr>
            <a:srgbClr val="FBAE40"/>
          </p15:clr>
        </p15:guide>
        <p15:guide id="24" orient="horz" pos="930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orient="horz" pos="1837" userDrawn="1">
          <p15:clr>
            <a:srgbClr val="FBAE40"/>
          </p15:clr>
        </p15:guide>
        <p15:guide id="28" orient="horz" pos="1995" userDrawn="1">
          <p15:clr>
            <a:srgbClr val="FBAE40"/>
          </p15:clr>
        </p15:guide>
        <p15:guide id="29" orient="horz" pos="2358" userDrawn="1">
          <p15:clr>
            <a:srgbClr val="FBAE40"/>
          </p15:clr>
        </p15:guide>
        <p15:guide id="30" orient="horz" pos="2517" userDrawn="1">
          <p15:clr>
            <a:srgbClr val="FBAE40"/>
          </p15:clr>
        </p15:guide>
        <p15:guide id="31" orient="horz" pos="2903" userDrawn="1">
          <p15:clr>
            <a:srgbClr val="FBAE40"/>
          </p15:clr>
        </p15:guide>
        <p15:guide id="32" orient="horz" pos="3061" userDrawn="1">
          <p15:clr>
            <a:srgbClr val="FBAE40"/>
          </p15:clr>
        </p15:guide>
        <p15:guide id="33" orient="horz" pos="3424" userDrawn="1">
          <p15:clr>
            <a:srgbClr val="FBAE40"/>
          </p15:clr>
        </p15:guide>
        <p15:guide id="34" orient="horz" pos="3583" userDrawn="1">
          <p15:clr>
            <a:srgbClr val="FBAE40"/>
          </p15:clr>
        </p15:guide>
        <p15:guide id="37" orient="horz" pos="3969" userDrawn="1">
          <p15:clr>
            <a:srgbClr val="FBAE40"/>
          </p15:clr>
        </p15:guide>
        <p15:guide id="38" orient="horz" pos="4127" userDrawn="1">
          <p15:clr>
            <a:srgbClr val="FBAE40"/>
          </p15:clr>
        </p15:guide>
        <p15:guide id="39" orient="horz" pos="4513" userDrawn="1">
          <p15:clr>
            <a:srgbClr val="FBAE40"/>
          </p15:clr>
        </p15:guide>
        <p15:guide id="40" orient="horz" pos="4672" userDrawn="1">
          <p15:clr>
            <a:srgbClr val="FBAE40"/>
          </p15:clr>
        </p15:guide>
        <p15:guide id="41" orient="horz" pos="5035" userDrawn="1">
          <p15:clr>
            <a:srgbClr val="FBAE40"/>
          </p15:clr>
        </p15:guide>
        <p15:guide id="42" orient="horz" pos="5193" userDrawn="1">
          <p15:clr>
            <a:srgbClr val="FBAE40"/>
          </p15:clr>
        </p15:guide>
        <p15:guide id="43" orient="horz" pos="5579" userDrawn="1">
          <p15:clr>
            <a:srgbClr val="FBAE40"/>
          </p15:clr>
        </p15:guide>
        <p15:guide id="44" orient="horz" pos="5738" userDrawn="1">
          <p15:clr>
            <a:srgbClr val="FBAE40"/>
          </p15:clr>
        </p15:guide>
        <p15:guide id="45" orient="horz" pos="6100" userDrawn="1">
          <p15:clr>
            <a:srgbClr val="FBAE40"/>
          </p15:clr>
        </p15:guide>
        <p15:guide id="46" orient="horz" pos="6259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 градиентом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EDBFCA-6CD0-35CB-41B3-36AB2953C5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09"/>
            <a:ext cx="19799300" cy="11137104"/>
          </a:xfrm>
          <a:prstGeom prst="rect">
            <a:avLst/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7B31166E-5B2E-161F-80C4-671886F8EC5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455359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 паттерном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B0F91C1-1A78-58C6-CB42-CC30A05BA4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09"/>
            <a:ext cx="19799300" cy="11137104"/>
          </a:xfrm>
          <a:prstGeom prst="rect">
            <a:avLst/>
          </a:prstGeom>
        </p:spPr>
      </p:pic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396DED21-0FBB-16BD-4DC9-B015EE63546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718239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черн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0F6A44-6D52-9D3E-2A26-DB5B259C8297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B1BCFD17-C1D9-8EDD-22C9-22186C3311D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639440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 градиентом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D00267-5568-1808-9A58-50A7E61510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54BFEFE7-FB2B-3859-C2EE-78C10CF7D7A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89454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кода_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43B8BAC9-FAA7-A835-C391-1C05B6AFA15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F15F1DD-95F6-4971-D888-6A6491841E9A}"/>
              </a:ext>
            </a:extLst>
          </p:cNvPr>
          <p:cNvGrpSpPr/>
          <p:nvPr userDrawn="1"/>
        </p:nvGrpSpPr>
        <p:grpSpPr>
          <a:xfrm>
            <a:off x="611187" y="2861734"/>
            <a:ext cx="18396000" cy="9864725"/>
            <a:chOff x="7477169" y="647700"/>
            <a:chExt cx="18396000" cy="9864725"/>
          </a:xfrm>
        </p:grpSpPr>
        <p:sp>
          <p:nvSpPr>
            <p:cNvPr id="5" name="Скругленный прямоугольник 4">
              <a:extLst>
                <a:ext uri="{FF2B5EF4-FFF2-40B4-BE49-F238E27FC236}">
                  <a16:creationId xmlns:a16="http://schemas.microsoft.com/office/drawing/2014/main" id="{38B58920-520D-ECD2-F228-4BCC7CF3CE49}"/>
                </a:ext>
              </a:extLst>
            </p:cNvPr>
            <p:cNvSpPr/>
            <p:nvPr/>
          </p:nvSpPr>
          <p:spPr>
            <a:xfrm>
              <a:off x="7477169" y="647700"/>
              <a:ext cx="18396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b="0" i="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2B7D3A56-805B-13E2-7063-6B9B4EC8AA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A30C1799-08EA-B949-D626-A8CCD88143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048CF9FC-F84E-B682-74A5-DBD5C6B0F2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9" name="Скругленный прямоугольник 8">
              <a:extLst>
                <a:ext uri="{FF2B5EF4-FFF2-40B4-BE49-F238E27FC236}">
                  <a16:creationId xmlns:a16="http://schemas.microsoft.com/office/drawing/2014/main" id="{9B1BD348-2498-84F2-C965-C41594850914}"/>
                </a:ext>
              </a:extLst>
            </p:cNvPr>
            <p:cNvSpPr/>
            <p:nvPr/>
          </p:nvSpPr>
          <p:spPr>
            <a:xfrm>
              <a:off x="7621169" y="1245510"/>
              <a:ext cx="18108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b="0" i="0" dirty="0">
                <a:latin typeface="T-Sans" pitchFamily="2" charset="0"/>
                <a:ea typeface="T-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457719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кода_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43B8BAC9-FAA7-A835-C391-1C05B6AFA15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41F21671-BB96-2971-101E-D1089DBA17F8}"/>
              </a:ext>
            </a:extLst>
          </p:cNvPr>
          <p:cNvGrpSpPr/>
          <p:nvPr userDrawn="1"/>
        </p:nvGrpSpPr>
        <p:grpSpPr>
          <a:xfrm>
            <a:off x="7477170" y="647700"/>
            <a:ext cx="11448000" cy="9864725"/>
            <a:chOff x="7477170" y="647700"/>
            <a:chExt cx="11448000" cy="9864725"/>
          </a:xfrm>
        </p:grpSpPr>
        <p:sp>
          <p:nvSpPr>
            <p:cNvPr id="11" name="Скругленный прямоугольник 10">
              <a:extLst>
                <a:ext uri="{FF2B5EF4-FFF2-40B4-BE49-F238E27FC236}">
                  <a16:creationId xmlns:a16="http://schemas.microsoft.com/office/drawing/2014/main" id="{83E92DA5-6108-6ED0-6D68-5064067EF090}"/>
                </a:ext>
              </a:extLst>
            </p:cNvPr>
            <p:cNvSpPr/>
            <p:nvPr/>
          </p:nvSpPr>
          <p:spPr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b="0" i="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DC590063-5A42-FB1A-E53B-185C753C31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76828266-A2B8-ABD5-B32A-F0002CFDC0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C4F931CE-FB41-24EA-227F-5FDF32D1364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15" name="Скругленный прямоугольник 14">
              <a:extLst>
                <a:ext uri="{FF2B5EF4-FFF2-40B4-BE49-F238E27FC236}">
                  <a16:creationId xmlns:a16="http://schemas.microsoft.com/office/drawing/2014/main" id="{5862E01E-E516-3B53-62A9-B59CBE13424B}"/>
                </a:ext>
              </a:extLst>
            </p:cNvPr>
            <p:cNvSpPr/>
            <p:nvPr/>
          </p:nvSpPr>
          <p:spPr>
            <a:xfrm>
              <a:off x="7621170" y="1245510"/>
              <a:ext cx="11160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b="0" i="0" dirty="0">
                <a:latin typeface="T-Sans" pitchFamily="2" charset="0"/>
                <a:ea typeface="T-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750243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аттерном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542BA4A3-BD66-B6CA-B053-0172A84AC9E4}"/>
              </a:ext>
            </a:extLst>
          </p:cNvPr>
          <p:cNvSpPr/>
          <p:nvPr userDrawn="1"/>
        </p:nvSpPr>
        <p:spPr>
          <a:xfrm>
            <a:off x="611188" y="647700"/>
            <a:ext cx="18576000" cy="9864725"/>
          </a:xfrm>
          <a:prstGeom prst="roundRect">
            <a:avLst>
              <a:gd name="adj" fmla="val 6279"/>
            </a:avLst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665FB45-97BD-7225-E420-C825F595E3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0178"/>
          <a:stretch/>
        </p:blipFill>
        <p:spPr>
          <a:xfrm>
            <a:off x="611186" y="4619298"/>
            <a:ext cx="18576000" cy="5881729"/>
          </a:xfrm>
          <a:prstGeom prst="roundRect">
            <a:avLst>
              <a:gd name="adj" fmla="val 10384"/>
            </a:avLst>
          </a:prstGeom>
        </p:spPr>
      </p:pic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3CDC5362-4493-F8E4-812F-FB74B566680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3299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инфографик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6E61101-FB36-7188-BEAF-FDF7940DFCCF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C584EAB4-0304-4FEF-C52A-A2CB0150F1FC}"/>
              </a:ext>
            </a:extLst>
          </p:cNvPr>
          <p:cNvSpPr/>
          <p:nvPr userDrawn="1"/>
        </p:nvSpPr>
        <p:spPr>
          <a:xfrm>
            <a:off x="2207516" y="-2112072"/>
            <a:ext cx="15384268" cy="15384268"/>
          </a:xfrm>
          <a:prstGeom prst="ellipse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>
            <a:outerShdw blurRad="635000" algn="ctr" rotWithShape="0">
              <a:prstClr val="black">
                <a:alpha val="5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0" i="0" dirty="0">
              <a:solidFill>
                <a:schemeClr val="accent2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B13E127B-8DEA-CC96-30EA-8B45282E4E78}"/>
              </a:ext>
            </a:extLst>
          </p:cNvPr>
          <p:cNvSpPr/>
          <p:nvPr userDrawn="1"/>
        </p:nvSpPr>
        <p:spPr>
          <a:xfrm>
            <a:off x="4645819" y="326231"/>
            <a:ext cx="10507662" cy="10507662"/>
          </a:xfrm>
          <a:prstGeom prst="ellipse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>
            <a:outerShdw blurRad="635000" algn="ctr" rotWithShape="0">
              <a:prstClr val="black">
                <a:alpha val="5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0" i="0" dirty="0">
              <a:solidFill>
                <a:schemeClr val="accent2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F079FC53-DDC0-CA9F-5B63-3CAEBFE2C5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894602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инфографик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83B3D84-087D-DD69-B9CD-1EA2D2D05C00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347CB827-92DF-1E19-4556-7F26AEF2ED94}"/>
              </a:ext>
            </a:extLst>
          </p:cNvPr>
          <p:cNvGrpSpPr/>
          <p:nvPr userDrawn="1"/>
        </p:nvGrpSpPr>
        <p:grpSpPr>
          <a:xfrm>
            <a:off x="7355366" y="-719938"/>
            <a:ext cx="12600000" cy="12600000"/>
            <a:chOff x="7355366" y="-719938"/>
            <a:chExt cx="12600000" cy="12600000"/>
          </a:xfrm>
        </p:grpSpPr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8A5DABA1-1DC3-E38B-4750-89870BC3EFA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355366" y="-719938"/>
              <a:ext cx="12600000" cy="12600000"/>
            </a:xfrm>
            <a:prstGeom prst="ellipse">
              <a:avLst/>
            </a:prstGeom>
            <a:solidFill>
              <a:srgbClr val="212020">
                <a:alpha val="20000"/>
              </a:srgb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9D503385-2B01-BB65-0260-EAC7605709E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585879" y="510575"/>
              <a:ext cx="10138974" cy="10138974"/>
            </a:xfrm>
            <a:prstGeom prst="ellipse">
              <a:avLst/>
            </a:prstGeom>
            <a:solidFill>
              <a:srgbClr val="212020">
                <a:alpha val="30000"/>
              </a:srgb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D702DD45-F95F-F325-33A5-6B018D62D09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846586" y="1771282"/>
              <a:ext cx="7617561" cy="7617561"/>
            </a:xfrm>
            <a:prstGeom prst="ellipse">
              <a:avLst/>
            </a:prstGeom>
            <a:solidFill>
              <a:srgbClr val="212020">
                <a:alpha val="40000"/>
              </a:srgb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</p:grpSp>
      <p:sp>
        <p:nvSpPr>
          <p:cNvPr id="9" name="Рисунок 5">
            <a:extLst>
              <a:ext uri="{FF2B5EF4-FFF2-40B4-BE49-F238E27FC236}">
                <a16:creationId xmlns:a16="http://schemas.microsoft.com/office/drawing/2014/main" id="{74F8FCCF-EC84-FD71-19BC-21BC6FE5EEC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316613" y="3241309"/>
            <a:ext cx="4677507" cy="4677507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3BAC04F5-2F11-88B0-A40D-7E022C490DC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426253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3A67B3-FB4F-3CB2-6C6A-D1F535CF10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6471"/>
            </a:avLst>
          </a:prstGeom>
        </p:spPr>
      </p:pic>
      <p:sp>
        <p:nvSpPr>
          <p:cNvPr id="6" name="Рисунок 5">
            <a:extLst>
              <a:ext uri="{FF2B5EF4-FFF2-40B4-BE49-F238E27FC236}">
                <a16:creationId xmlns:a16="http://schemas.microsoft.com/office/drawing/2014/main" id="{0996C759-F426-06F4-0BC4-B87E8B8B874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207375" y="1910157"/>
            <a:ext cx="3384550" cy="3384550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 </a:t>
            </a: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0F3C1F4A-9CD7-F8ED-CE66-6400EF28413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929677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06B5DC0-C588-DA97-CCB3-A681ADD9E7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7" b="217"/>
          <a:stretch/>
        </p:blipFill>
        <p:spPr>
          <a:xfrm>
            <a:off x="611187" y="647700"/>
            <a:ext cx="18576925" cy="9864724"/>
          </a:xfrm>
          <a:prstGeom prst="roundRect">
            <a:avLst>
              <a:gd name="adj" fmla="val 6471"/>
            </a:avLst>
          </a:prstGeom>
        </p:spPr>
      </p:pic>
      <p:sp>
        <p:nvSpPr>
          <p:cNvPr id="6" name="Рисунок 5">
            <a:extLst>
              <a:ext uri="{FF2B5EF4-FFF2-40B4-BE49-F238E27FC236}">
                <a16:creationId xmlns:a16="http://schemas.microsoft.com/office/drawing/2014/main" id="{0996C759-F426-06F4-0BC4-B87E8B8B874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207375" y="1910157"/>
            <a:ext cx="3384550" cy="3384550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 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7126BD4C-C383-9301-0090-1D4E13EA6FA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761704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а 1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EDBFCA-6CD0-35CB-41B3-36AB2953C5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09"/>
            <a:ext cx="19799300" cy="11137104"/>
          </a:xfrm>
          <a:prstGeom prst="rect">
            <a:avLst/>
          </a:prstGeom>
        </p:spPr>
      </p:pic>
      <p:cxnSp>
        <p:nvCxnSpPr>
          <p:cNvPr id="51" name="Соединительная линия уступом 50">
            <a:extLst>
              <a:ext uri="{FF2B5EF4-FFF2-40B4-BE49-F238E27FC236}">
                <a16:creationId xmlns:a16="http://schemas.microsoft.com/office/drawing/2014/main" id="{3329BF57-8247-BE21-5523-C8E3F8A144D2}"/>
              </a:ext>
            </a:extLst>
          </p:cNvPr>
          <p:cNvCxnSpPr>
            <a:cxnSpLocks/>
            <a:stCxn id="36" idx="3"/>
            <a:endCxn id="31" idx="0"/>
          </p:cNvCxnSpPr>
          <p:nvPr userDrawn="1"/>
        </p:nvCxnSpPr>
        <p:spPr>
          <a:xfrm>
            <a:off x="12151144" y="4294991"/>
            <a:ext cx="4458796" cy="3662510"/>
          </a:xfrm>
          <a:prstGeom prst="bentConnector2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4" name="Соединительная линия уступом 53">
            <a:extLst>
              <a:ext uri="{FF2B5EF4-FFF2-40B4-BE49-F238E27FC236}">
                <a16:creationId xmlns:a16="http://schemas.microsoft.com/office/drawing/2014/main" id="{04558508-EE6A-D763-E9A4-260659A92926}"/>
              </a:ext>
            </a:extLst>
          </p:cNvPr>
          <p:cNvCxnSpPr>
            <a:stCxn id="36" idx="1"/>
            <a:endCxn id="21" idx="0"/>
          </p:cNvCxnSpPr>
          <p:nvPr userDrawn="1"/>
        </p:nvCxnSpPr>
        <p:spPr>
          <a:xfrm rot="10800000" flipV="1">
            <a:off x="3189361" y="4294991"/>
            <a:ext cx="4458794" cy="3662510"/>
          </a:xfrm>
          <a:prstGeom prst="bentConnector2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C6D2594A-1FA6-F933-CFE2-93DB69279023}"/>
              </a:ext>
            </a:extLst>
          </p:cNvPr>
          <p:cNvCxnSpPr>
            <a:endCxn id="26" idx="0"/>
          </p:cNvCxnSpPr>
          <p:nvPr userDrawn="1"/>
        </p:nvCxnSpPr>
        <p:spPr>
          <a:xfrm>
            <a:off x="9899650" y="5373293"/>
            <a:ext cx="0" cy="2584208"/>
          </a:xfrm>
          <a:prstGeom prst="line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D4243908-EBE6-D74B-9B81-D2D458B76874}"/>
              </a:ext>
            </a:extLst>
          </p:cNvPr>
          <p:cNvSpPr/>
          <p:nvPr/>
        </p:nvSpPr>
        <p:spPr>
          <a:xfrm>
            <a:off x="937866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526194E7-DE29-A96E-FDA8-40CFCD3F6B45}"/>
              </a:ext>
            </a:extLst>
          </p:cNvPr>
          <p:cNvSpPr/>
          <p:nvPr/>
        </p:nvSpPr>
        <p:spPr>
          <a:xfrm>
            <a:off x="7648155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1DF6D686-21DA-23E3-2D02-5BE4F58DB73E}"/>
              </a:ext>
            </a:extLst>
          </p:cNvPr>
          <p:cNvSpPr/>
          <p:nvPr/>
        </p:nvSpPr>
        <p:spPr>
          <a:xfrm>
            <a:off x="14358445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C652039D-D3E9-0FE2-7C76-04F1BDC0CEFA}"/>
              </a:ext>
            </a:extLst>
          </p:cNvPr>
          <p:cNvSpPr/>
          <p:nvPr/>
        </p:nvSpPr>
        <p:spPr>
          <a:xfrm>
            <a:off x="937866" y="795750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F8517EF7-A9CB-6060-9B5B-9284F8008B5A}"/>
              </a:ext>
            </a:extLst>
          </p:cNvPr>
          <p:cNvSpPr/>
          <p:nvPr/>
        </p:nvSpPr>
        <p:spPr>
          <a:xfrm>
            <a:off x="7648155" y="795750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1" name="Скругленный прямоугольник 30">
            <a:extLst>
              <a:ext uri="{FF2B5EF4-FFF2-40B4-BE49-F238E27FC236}">
                <a16:creationId xmlns:a16="http://schemas.microsoft.com/office/drawing/2014/main" id="{CF12E7D5-8E67-5FD6-7DFB-40783541066C}"/>
              </a:ext>
            </a:extLst>
          </p:cNvPr>
          <p:cNvSpPr/>
          <p:nvPr/>
        </p:nvSpPr>
        <p:spPr>
          <a:xfrm>
            <a:off x="14358445" y="795750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6" name="Скругленный прямоугольник 35">
            <a:extLst>
              <a:ext uri="{FF2B5EF4-FFF2-40B4-BE49-F238E27FC236}">
                <a16:creationId xmlns:a16="http://schemas.microsoft.com/office/drawing/2014/main" id="{3523BD01-495C-0508-6528-37435F16CD29}"/>
              </a:ext>
            </a:extLst>
          </p:cNvPr>
          <p:cNvSpPr/>
          <p:nvPr/>
        </p:nvSpPr>
        <p:spPr>
          <a:xfrm>
            <a:off x="7648155" y="3216689"/>
            <a:ext cx="4502989" cy="2156604"/>
          </a:xfrm>
          <a:prstGeom prst="roundRect">
            <a:avLst>
              <a:gd name="adj" fmla="val 23232"/>
            </a:avLst>
          </a:prstGeom>
          <a:gradFill>
            <a:gsLst>
              <a:gs pos="0">
                <a:schemeClr val="accent2"/>
              </a:gs>
              <a:gs pos="100000">
                <a:srgbClr val="5D5D5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1" name="Рисунок 40">
            <a:extLst>
              <a:ext uri="{FF2B5EF4-FFF2-40B4-BE49-F238E27FC236}">
                <a16:creationId xmlns:a16="http://schemas.microsoft.com/office/drawing/2014/main" id="{97CAB214-D26D-6764-37C0-88A38712D83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922557" y="4131330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2" name="Рисунок 40">
            <a:extLst>
              <a:ext uri="{FF2B5EF4-FFF2-40B4-BE49-F238E27FC236}">
                <a16:creationId xmlns:a16="http://schemas.microsoft.com/office/drawing/2014/main" id="{4E271671-026B-BC66-8298-F846D467F5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922557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3" name="Рисунок 40">
            <a:extLst>
              <a:ext uri="{FF2B5EF4-FFF2-40B4-BE49-F238E27FC236}">
                <a16:creationId xmlns:a16="http://schemas.microsoft.com/office/drawing/2014/main" id="{E8008964-7207-DFFA-6167-432E9AD5B68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922557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4" name="Рисунок 40">
            <a:extLst>
              <a:ext uri="{FF2B5EF4-FFF2-40B4-BE49-F238E27FC236}">
                <a16:creationId xmlns:a16="http://schemas.microsoft.com/office/drawing/2014/main" id="{5E4B7693-F81F-64E5-BB12-AAC0176AB5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07432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5" name="Рисунок 40">
            <a:extLst>
              <a:ext uri="{FF2B5EF4-FFF2-40B4-BE49-F238E27FC236}">
                <a16:creationId xmlns:a16="http://schemas.microsoft.com/office/drawing/2014/main" id="{3985D896-4BC0-FE98-0455-E62069DEA7E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207432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6" name="Рисунок 40">
            <a:extLst>
              <a:ext uri="{FF2B5EF4-FFF2-40B4-BE49-F238E27FC236}">
                <a16:creationId xmlns:a16="http://schemas.microsoft.com/office/drawing/2014/main" id="{AF4B2BA9-A809-F832-C663-0BECDCD7820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7623395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7" name="Рисунок 40">
            <a:extLst>
              <a:ext uri="{FF2B5EF4-FFF2-40B4-BE49-F238E27FC236}">
                <a16:creationId xmlns:a16="http://schemas.microsoft.com/office/drawing/2014/main" id="{923EEA1F-8180-AACE-C114-19FA98CFD42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7623395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F6424D5-BD53-B501-EFCF-A7094B14AA1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56664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" pos="1201" userDrawn="1">
          <p15:clr>
            <a:srgbClr val="FBAE40"/>
          </p15:clr>
        </p15:guide>
        <p15:guide id="23" orient="horz" pos="2426" userDrawn="1">
          <p15:clr>
            <a:srgbClr val="FBAE40"/>
          </p15:clr>
        </p15:guide>
        <p15:guide id="44" orient="horz" pos="460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а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D00267-5568-1808-9A58-50A7E61510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42" name="Рисунок 3">
            <a:extLst>
              <a:ext uri="{FF2B5EF4-FFF2-40B4-BE49-F238E27FC236}">
                <a16:creationId xmlns:a16="http://schemas.microsoft.com/office/drawing/2014/main" id="{7ADDD9D5-E467-DCAB-F59E-6F8A5FFA3F89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10084662" y="1392537"/>
            <a:ext cx="1332000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sz="24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en-US" dirty="0" err="1"/>
              <a:t>Ф</a:t>
            </a:r>
            <a:r>
              <a:rPr lang="ru-RU" dirty="0"/>
              <a:t>ото</a:t>
            </a:r>
          </a:p>
        </p:txBody>
      </p:sp>
      <p:sp>
        <p:nvSpPr>
          <p:cNvPr id="43" name="Рисунок 4">
            <a:extLst>
              <a:ext uri="{FF2B5EF4-FFF2-40B4-BE49-F238E27FC236}">
                <a16:creationId xmlns:a16="http://schemas.microsoft.com/office/drawing/2014/main" id="{547DBDDA-3E5E-2E2A-CA25-69A84B4606A0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5512153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4" name="Рисунок 5">
            <a:extLst>
              <a:ext uri="{FF2B5EF4-FFF2-40B4-BE49-F238E27FC236}">
                <a16:creationId xmlns:a16="http://schemas.microsoft.com/office/drawing/2014/main" id="{68BEC38C-6C26-D162-9776-6CB9B0E4BD67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10087409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5" name="Рисунок 30">
            <a:extLst>
              <a:ext uri="{FF2B5EF4-FFF2-40B4-BE49-F238E27FC236}">
                <a16:creationId xmlns:a16="http://schemas.microsoft.com/office/drawing/2014/main" id="{6C42DA80-BE83-D5E0-8D52-5405B0A37A27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4591911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6" name="Рисунок 31">
            <a:extLst>
              <a:ext uri="{FF2B5EF4-FFF2-40B4-BE49-F238E27FC236}">
                <a16:creationId xmlns:a16="http://schemas.microsoft.com/office/drawing/2014/main" id="{870F61A5-CF3B-2E6C-40A1-0A664B10706F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455346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7" name="Рисунок 32">
            <a:extLst>
              <a:ext uri="{FF2B5EF4-FFF2-40B4-BE49-F238E27FC236}">
                <a16:creationId xmlns:a16="http://schemas.microsoft.com/office/drawing/2014/main" id="{4AC76CDA-79C5-A6DB-DBD5-E05F8652ABDF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11021306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8" name="Рисунок 33">
            <a:extLst>
              <a:ext uri="{FF2B5EF4-FFF2-40B4-BE49-F238E27FC236}">
                <a16:creationId xmlns:a16="http://schemas.microsoft.com/office/drawing/2014/main" id="{4FAB1FFA-D21B-3AC7-A1F0-371662B3291C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5589437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9" name="Рисунок 34">
            <a:extLst>
              <a:ext uri="{FF2B5EF4-FFF2-40B4-BE49-F238E27FC236}">
                <a16:creationId xmlns:a16="http://schemas.microsoft.com/office/drawing/2014/main" id="{ABA1AF5F-8612-0C40-322D-391C28D2DDD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463772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0" name="Рисунок 35">
            <a:extLst>
              <a:ext uri="{FF2B5EF4-FFF2-40B4-BE49-F238E27FC236}">
                <a16:creationId xmlns:a16="http://schemas.microsoft.com/office/drawing/2014/main" id="{2D939B1D-098B-DEB9-E778-BA6A389EACE1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1021306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1" name="Рисунок 36">
            <a:extLst>
              <a:ext uri="{FF2B5EF4-FFF2-40B4-BE49-F238E27FC236}">
                <a16:creationId xmlns:a16="http://schemas.microsoft.com/office/drawing/2014/main" id="{02B9D7DE-05FA-09CF-FF40-CD53D77312E8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15588542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2" name="Рисунок 37">
            <a:extLst>
              <a:ext uri="{FF2B5EF4-FFF2-40B4-BE49-F238E27FC236}">
                <a16:creationId xmlns:a16="http://schemas.microsoft.com/office/drawing/2014/main" id="{8054396C-013F-A853-A3BA-AA5324B50A69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6463772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3" name="Рисунок 38">
            <a:extLst>
              <a:ext uri="{FF2B5EF4-FFF2-40B4-BE49-F238E27FC236}">
                <a16:creationId xmlns:a16="http://schemas.microsoft.com/office/drawing/2014/main" id="{A044A316-30D4-CB52-3155-96A211343633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1026533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4" name="Рисунок 39">
            <a:extLst>
              <a:ext uri="{FF2B5EF4-FFF2-40B4-BE49-F238E27FC236}">
                <a16:creationId xmlns:a16="http://schemas.microsoft.com/office/drawing/2014/main" id="{89AE198D-E9CE-6294-4035-0F86E63F6B9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15593402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D2F7E8D1-0C8D-E16D-7364-33B86D9E005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513399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" pos="1201" userDrawn="1">
          <p15:clr>
            <a:srgbClr val="FBAE40"/>
          </p15:clr>
        </p15:guide>
        <p15:guide id="23" orient="horz" pos="2426" userDrawn="1">
          <p15:clr>
            <a:srgbClr val="FBAE40"/>
          </p15:clr>
        </p15:guide>
        <p15:guide id="44" orient="horz" pos="460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бло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382C3434-EFE4-F51F-9AE1-64EBE00259DC}"/>
              </a:ext>
            </a:extLst>
          </p:cNvPr>
          <p:cNvSpPr/>
          <p:nvPr userDrawn="1"/>
        </p:nvSpPr>
        <p:spPr>
          <a:xfrm>
            <a:off x="13139738" y="2303463"/>
            <a:ext cx="6048375" cy="8208962"/>
          </a:xfrm>
          <a:prstGeom prst="roundRect">
            <a:avLst>
              <a:gd name="adj" fmla="val 8724"/>
            </a:avLst>
          </a:prstGeom>
          <a:solidFill>
            <a:srgbClr val="FFEE9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BCEEFC11-EC7F-6F06-8CC9-21907FC31E3D}"/>
              </a:ext>
            </a:extLst>
          </p:cNvPr>
          <p:cNvSpPr/>
          <p:nvPr userDrawn="1"/>
        </p:nvSpPr>
        <p:spPr>
          <a:xfrm>
            <a:off x="6862924" y="2303463"/>
            <a:ext cx="6048375" cy="8208962"/>
          </a:xfrm>
          <a:prstGeom prst="roundRect">
            <a:avLst>
              <a:gd name="adj" fmla="val 8724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D1EB7F91-FCBF-EE1C-C214-42C317A25CED}"/>
              </a:ext>
            </a:extLst>
          </p:cNvPr>
          <p:cNvSpPr/>
          <p:nvPr userDrawn="1"/>
        </p:nvSpPr>
        <p:spPr>
          <a:xfrm>
            <a:off x="13152277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B8F5289F-6DB6-1170-1BED-E70EA0DCBD7B}"/>
              </a:ext>
            </a:extLst>
          </p:cNvPr>
          <p:cNvSpPr/>
          <p:nvPr userDrawn="1"/>
        </p:nvSpPr>
        <p:spPr>
          <a:xfrm>
            <a:off x="6875463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7" name="Номер слайда">
            <a:extLst>
              <a:ext uri="{FF2B5EF4-FFF2-40B4-BE49-F238E27FC236}">
                <a16:creationId xmlns:a16="http://schemas.microsoft.com/office/drawing/2014/main" id="{AB84011A-5000-94AF-6126-27441090983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038696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8" pos="4331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20" pos="4626" userDrawn="1">
          <p15:clr>
            <a:srgbClr val="FBAE40"/>
          </p15:clr>
        </p15:guide>
        <p15:guide id="21" pos="8617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pos="7801" userDrawn="1">
          <p15:clr>
            <a:srgbClr val="FBAE40"/>
          </p15:clr>
        </p15:guide>
        <p15:guide id="28" pos="11793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бло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382C3434-EFE4-F51F-9AE1-64EBE00259DC}"/>
              </a:ext>
            </a:extLst>
          </p:cNvPr>
          <p:cNvSpPr/>
          <p:nvPr userDrawn="1"/>
        </p:nvSpPr>
        <p:spPr>
          <a:xfrm>
            <a:off x="13139738" y="2303463"/>
            <a:ext cx="6048375" cy="8208962"/>
          </a:xfrm>
          <a:prstGeom prst="roundRect">
            <a:avLst>
              <a:gd name="adj" fmla="val 8724"/>
            </a:avLst>
          </a:prstGeom>
          <a:gradFill>
            <a:gsLst>
              <a:gs pos="25000">
                <a:srgbClr val="FFC0A3">
                  <a:alpha val="50000"/>
                </a:srgbClr>
              </a:gs>
              <a:gs pos="100000">
                <a:srgbClr val="FFC0A3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BCEEFC11-EC7F-6F06-8CC9-21907FC31E3D}"/>
              </a:ext>
            </a:extLst>
          </p:cNvPr>
          <p:cNvSpPr/>
          <p:nvPr userDrawn="1"/>
        </p:nvSpPr>
        <p:spPr>
          <a:xfrm>
            <a:off x="6862924" y="2303463"/>
            <a:ext cx="6048375" cy="8208962"/>
          </a:xfrm>
          <a:prstGeom prst="roundRect">
            <a:avLst>
              <a:gd name="adj" fmla="val 8724"/>
            </a:avLst>
          </a:prstGeom>
          <a:gradFill>
            <a:gsLst>
              <a:gs pos="25000">
                <a:srgbClr val="DAECBD">
                  <a:alpha val="50000"/>
                </a:srgbClr>
              </a:gs>
              <a:gs pos="100000">
                <a:srgbClr val="DAECB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D1EB7F91-FCBF-EE1C-C214-42C317A25CED}"/>
              </a:ext>
            </a:extLst>
          </p:cNvPr>
          <p:cNvSpPr/>
          <p:nvPr userDrawn="1"/>
        </p:nvSpPr>
        <p:spPr>
          <a:xfrm>
            <a:off x="13152277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FFC0A3">
                  <a:alpha val="50000"/>
                </a:srgbClr>
              </a:gs>
              <a:gs pos="100000">
                <a:srgbClr val="FFC0A3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B8F5289F-6DB6-1170-1BED-E70EA0DCBD7B}"/>
              </a:ext>
            </a:extLst>
          </p:cNvPr>
          <p:cNvSpPr/>
          <p:nvPr userDrawn="1"/>
        </p:nvSpPr>
        <p:spPr>
          <a:xfrm>
            <a:off x="6875463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DAECBD">
                  <a:alpha val="50000"/>
                </a:srgbClr>
              </a:gs>
              <a:gs pos="100000">
                <a:srgbClr val="DAECB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7" name="Номер слайда">
            <a:extLst>
              <a:ext uri="{FF2B5EF4-FFF2-40B4-BE49-F238E27FC236}">
                <a16:creationId xmlns:a16="http://schemas.microsoft.com/office/drawing/2014/main" id="{AACEFA16-0A2C-CC3C-97F3-2BF76F5270A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331410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8" pos="4331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20" pos="4626" userDrawn="1">
          <p15:clr>
            <a:srgbClr val="FBAE40"/>
          </p15:clr>
        </p15:guide>
        <p15:guide id="21" pos="8617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pos="7801" userDrawn="1">
          <p15:clr>
            <a:srgbClr val="FBAE40"/>
          </p15:clr>
        </p15:guide>
        <p15:guide id="28" pos="11793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бло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6C39977A-07E6-43B8-A72A-A0A2DD8856F2}"/>
              </a:ext>
            </a:extLst>
          </p:cNvPr>
          <p:cNvSpPr/>
          <p:nvPr userDrawn="1"/>
        </p:nvSpPr>
        <p:spPr>
          <a:xfrm>
            <a:off x="611188" y="640525"/>
            <a:ext cx="6011862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724B0A02-5030-1F59-1E9F-B3ECF5EEC6C4}"/>
              </a:ext>
            </a:extLst>
          </p:cNvPr>
          <p:cNvSpPr/>
          <p:nvPr userDrawn="1"/>
        </p:nvSpPr>
        <p:spPr>
          <a:xfrm>
            <a:off x="13175044" y="640525"/>
            <a:ext cx="6011862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38318C59-4947-0607-A781-8F3FE4425B02}"/>
              </a:ext>
            </a:extLst>
          </p:cNvPr>
          <p:cNvSpPr/>
          <p:nvPr userDrawn="1"/>
        </p:nvSpPr>
        <p:spPr>
          <a:xfrm>
            <a:off x="6883972" y="5688013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E8BB0852-CEED-0638-E743-DF3662938FCB}"/>
              </a:ext>
            </a:extLst>
          </p:cNvPr>
          <p:cNvSpPr/>
          <p:nvPr userDrawn="1"/>
        </p:nvSpPr>
        <p:spPr>
          <a:xfrm>
            <a:off x="6883972" y="640525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39A8E54B-CAB1-51F3-2D62-9BBAE2D25F7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867927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 userDrawn="1">
          <p15:clr>
            <a:srgbClr val="FBAE40"/>
          </p15:clr>
        </p15:guide>
        <p15:guide id="2" pos="1383" userDrawn="1">
          <p15:clr>
            <a:srgbClr val="FBAE40"/>
          </p15:clr>
        </p15:guide>
        <p15:guide id="3" pos="2199" userDrawn="1">
          <p15:clr>
            <a:srgbClr val="FBAE40"/>
          </p15:clr>
        </p15:guide>
        <p15:guide id="4" pos="2358" userDrawn="1">
          <p15:clr>
            <a:srgbClr val="FBAE40"/>
          </p15:clr>
        </p15:guide>
        <p15:guide id="5" pos="3197" userDrawn="1">
          <p15:clr>
            <a:srgbClr val="FBAE40"/>
          </p15:clr>
        </p15:guide>
        <p15:guide id="6" pos="3333" userDrawn="1">
          <p15:clr>
            <a:srgbClr val="FBAE40"/>
          </p15:clr>
        </p15:guide>
        <p15:guide id="7" pos="4172" userDrawn="1">
          <p15:clr>
            <a:srgbClr val="FBAE40"/>
          </p15:clr>
        </p15:guide>
        <p15:guide id="8" pos="4331" userDrawn="1">
          <p15:clr>
            <a:srgbClr val="FBAE40"/>
          </p15:clr>
        </p15:guide>
        <p15:guide id="9" pos="5170" userDrawn="1">
          <p15:clr>
            <a:srgbClr val="FBAE40"/>
          </p15:clr>
        </p15:guide>
        <p15:guide id="10" pos="5329" userDrawn="1">
          <p15:clr>
            <a:srgbClr val="FBAE40"/>
          </p15:clr>
        </p15:guide>
        <p15:guide id="11" pos="6168" userDrawn="1">
          <p15:clr>
            <a:srgbClr val="FBAE40"/>
          </p15:clr>
        </p15:guide>
        <p15:guide id="12" pos="6327" userDrawn="1">
          <p15:clr>
            <a:srgbClr val="FBAE40"/>
          </p15:clr>
        </p15:guide>
        <p15:guide id="13" pos="7143" userDrawn="1">
          <p15:clr>
            <a:srgbClr val="FBAE40"/>
          </p15:clr>
        </p15:guide>
        <p15:guide id="14" pos="7302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17" pos="9116" userDrawn="1">
          <p15:clr>
            <a:srgbClr val="FBAE40"/>
          </p15:clr>
        </p15:guide>
        <p15:guide id="18" pos="9275" userDrawn="1">
          <p15:clr>
            <a:srgbClr val="FBAE40"/>
          </p15:clr>
        </p15:guide>
        <p15:guide id="19" pos="10092" userDrawn="1">
          <p15:clr>
            <a:srgbClr val="FBAE40"/>
          </p15:clr>
        </p15:guide>
        <p15:guide id="20" pos="10250" userDrawn="1">
          <p15:clr>
            <a:srgbClr val="FBAE40"/>
          </p15:clr>
        </p15:guide>
        <p15:guide id="21" pos="11089" userDrawn="1">
          <p15:clr>
            <a:srgbClr val="FBAE40"/>
          </p15:clr>
        </p15:guide>
        <p15:guide id="22" pos="11248" userDrawn="1">
          <p15:clr>
            <a:srgbClr val="FBAE40"/>
          </p15:clr>
        </p15:guide>
        <p15:guide id="23" orient="horz" pos="771" userDrawn="1">
          <p15:clr>
            <a:srgbClr val="FBAE40"/>
          </p15:clr>
        </p15:guide>
        <p15:guide id="24" orient="horz" pos="930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orient="horz" pos="1837" userDrawn="1">
          <p15:clr>
            <a:srgbClr val="FBAE40"/>
          </p15:clr>
        </p15:guide>
        <p15:guide id="28" orient="horz" pos="1995" userDrawn="1">
          <p15:clr>
            <a:srgbClr val="FBAE40"/>
          </p15:clr>
        </p15:guide>
        <p15:guide id="29" orient="horz" pos="2358" userDrawn="1">
          <p15:clr>
            <a:srgbClr val="FBAE40"/>
          </p15:clr>
        </p15:guide>
        <p15:guide id="30" orient="horz" pos="2517" userDrawn="1">
          <p15:clr>
            <a:srgbClr val="FBAE40"/>
          </p15:clr>
        </p15:guide>
        <p15:guide id="31" orient="horz" pos="2903" userDrawn="1">
          <p15:clr>
            <a:srgbClr val="FBAE40"/>
          </p15:clr>
        </p15:guide>
        <p15:guide id="32" orient="horz" pos="3061" userDrawn="1">
          <p15:clr>
            <a:srgbClr val="FBAE40"/>
          </p15:clr>
        </p15:guide>
        <p15:guide id="33" orient="horz" pos="3424" userDrawn="1">
          <p15:clr>
            <a:srgbClr val="FBAE40"/>
          </p15:clr>
        </p15:guide>
        <p15:guide id="34" orient="horz" pos="3583" userDrawn="1">
          <p15:clr>
            <a:srgbClr val="FBAE40"/>
          </p15:clr>
        </p15:guide>
        <p15:guide id="37" orient="horz" pos="3969" userDrawn="1">
          <p15:clr>
            <a:srgbClr val="FBAE40"/>
          </p15:clr>
        </p15:guide>
        <p15:guide id="38" orient="horz" pos="4127" userDrawn="1">
          <p15:clr>
            <a:srgbClr val="FBAE40"/>
          </p15:clr>
        </p15:guide>
        <p15:guide id="39" orient="horz" pos="4513" userDrawn="1">
          <p15:clr>
            <a:srgbClr val="FBAE40"/>
          </p15:clr>
        </p15:guide>
        <p15:guide id="40" orient="horz" pos="4672" userDrawn="1">
          <p15:clr>
            <a:srgbClr val="FBAE40"/>
          </p15:clr>
        </p15:guide>
        <p15:guide id="41" orient="horz" pos="5035" userDrawn="1">
          <p15:clr>
            <a:srgbClr val="FBAE40"/>
          </p15:clr>
        </p15:guide>
        <p15:guide id="42" orient="horz" pos="5193" userDrawn="1">
          <p15:clr>
            <a:srgbClr val="FBAE40"/>
          </p15:clr>
        </p15:guide>
        <p15:guide id="43" orient="horz" pos="5579" userDrawn="1">
          <p15:clr>
            <a:srgbClr val="FBAE40"/>
          </p15:clr>
        </p15:guide>
        <p15:guide id="44" orient="horz" pos="5738" userDrawn="1">
          <p15:clr>
            <a:srgbClr val="FBAE40"/>
          </p15:clr>
        </p15:guide>
        <p15:guide id="45" orient="horz" pos="6100" userDrawn="1">
          <p15:clr>
            <a:srgbClr val="FBAE40"/>
          </p15:clr>
        </p15:guide>
        <p15:guide id="46" orient="horz" pos="6259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блоков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C920BB3-B504-FDE4-54A6-D08E9D591175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6C39977A-07E6-43B8-A72A-A0A2DD8856F2}"/>
              </a:ext>
            </a:extLst>
          </p:cNvPr>
          <p:cNvSpPr/>
          <p:nvPr userDrawn="1"/>
        </p:nvSpPr>
        <p:spPr>
          <a:xfrm>
            <a:off x="611188" y="656291"/>
            <a:ext cx="6011862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38318C59-4947-0607-A781-8F3FE4425B02}"/>
              </a:ext>
            </a:extLst>
          </p:cNvPr>
          <p:cNvSpPr/>
          <p:nvPr userDrawn="1"/>
        </p:nvSpPr>
        <p:spPr>
          <a:xfrm>
            <a:off x="6883972" y="5703779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E8BB0852-CEED-0638-E743-DF3662938FCB}"/>
              </a:ext>
            </a:extLst>
          </p:cNvPr>
          <p:cNvSpPr/>
          <p:nvPr userDrawn="1"/>
        </p:nvSpPr>
        <p:spPr>
          <a:xfrm>
            <a:off x="6883972" y="656291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35DBF272-939B-8648-6910-34827077F523}"/>
              </a:ext>
            </a:extLst>
          </p:cNvPr>
          <p:cNvSpPr/>
          <p:nvPr userDrawn="1"/>
        </p:nvSpPr>
        <p:spPr>
          <a:xfrm>
            <a:off x="13159266" y="5703779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7D1BFEE7-0825-0753-4E97-E04E80E683BC}"/>
              </a:ext>
            </a:extLst>
          </p:cNvPr>
          <p:cNvSpPr/>
          <p:nvPr userDrawn="1"/>
        </p:nvSpPr>
        <p:spPr>
          <a:xfrm>
            <a:off x="13159266" y="656291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0F8788BB-1EFA-9E1C-ECD6-6E922EA133F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3464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7" pos="4172" userDrawn="1">
          <p15:clr>
            <a:srgbClr val="FBAE40"/>
          </p15:clr>
        </p15:guide>
        <p15:guide id="8" pos="4331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полнители с вырез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9">
            <a:extLst>
              <a:ext uri="{FF2B5EF4-FFF2-40B4-BE49-F238E27FC236}">
                <a16:creationId xmlns:a16="http://schemas.microsoft.com/office/drawing/2014/main" id="{E3195EB8-BAA6-98A2-ED4A-761390F89227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614887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4" name="Рисунок 10">
            <a:extLst>
              <a:ext uri="{FF2B5EF4-FFF2-40B4-BE49-F238E27FC236}">
                <a16:creationId xmlns:a16="http://schemas.microsoft.com/office/drawing/2014/main" id="{1736C7D4-7D97-6FF3-B2A9-90EFA450F879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6875010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5" name="Рисунок 11">
            <a:extLst>
              <a:ext uri="{FF2B5EF4-FFF2-40B4-BE49-F238E27FC236}">
                <a16:creationId xmlns:a16="http://schemas.microsoft.com/office/drawing/2014/main" id="{82A0538B-EBA4-07B0-F30A-251A02B76DDF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13135133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2D17354B-548F-4A7B-2533-BB9F942475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743601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шки с вырезами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3">
            <a:extLst>
              <a:ext uri="{FF2B5EF4-FFF2-40B4-BE49-F238E27FC236}">
                <a16:creationId xmlns:a16="http://schemas.microsoft.com/office/drawing/2014/main" id="{01515A73-04C3-20AC-0CFB-39D743234689}"/>
              </a:ext>
            </a:extLst>
          </p:cNvPr>
          <p:cNvSpPr/>
          <p:nvPr/>
        </p:nvSpPr>
        <p:spPr>
          <a:xfrm>
            <a:off x="615403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2" name="Рисунок 3">
            <a:extLst>
              <a:ext uri="{FF2B5EF4-FFF2-40B4-BE49-F238E27FC236}">
                <a16:creationId xmlns:a16="http://schemas.microsoft.com/office/drawing/2014/main" id="{DE8C40DE-1372-D837-6A2D-7DED59BAD1C0}"/>
              </a:ext>
            </a:extLst>
          </p:cNvPr>
          <p:cNvSpPr/>
          <p:nvPr userDrawn="1"/>
        </p:nvSpPr>
        <p:spPr>
          <a:xfrm>
            <a:off x="6890697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3" name="Рисунок 3">
            <a:extLst>
              <a:ext uri="{FF2B5EF4-FFF2-40B4-BE49-F238E27FC236}">
                <a16:creationId xmlns:a16="http://schemas.microsoft.com/office/drawing/2014/main" id="{AC10503E-8046-7476-D9B2-778878EE1D11}"/>
              </a:ext>
            </a:extLst>
          </p:cNvPr>
          <p:cNvSpPr/>
          <p:nvPr userDrawn="1"/>
        </p:nvSpPr>
        <p:spPr>
          <a:xfrm>
            <a:off x="13165992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4" name="Рисунок 3">
            <a:extLst>
              <a:ext uri="{FF2B5EF4-FFF2-40B4-BE49-F238E27FC236}">
                <a16:creationId xmlns:a16="http://schemas.microsoft.com/office/drawing/2014/main" id="{BE82D4E0-C7D9-F4C5-5F35-AEA5153AC6D4}"/>
              </a:ext>
            </a:extLst>
          </p:cNvPr>
          <p:cNvSpPr/>
          <p:nvPr userDrawn="1"/>
        </p:nvSpPr>
        <p:spPr>
          <a:xfrm>
            <a:off x="615403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5" name="Рисунок 3">
            <a:extLst>
              <a:ext uri="{FF2B5EF4-FFF2-40B4-BE49-F238E27FC236}">
                <a16:creationId xmlns:a16="http://schemas.microsoft.com/office/drawing/2014/main" id="{FABD9EAD-22E6-5B1C-D342-6F9320852561}"/>
              </a:ext>
            </a:extLst>
          </p:cNvPr>
          <p:cNvSpPr/>
          <p:nvPr userDrawn="1"/>
        </p:nvSpPr>
        <p:spPr>
          <a:xfrm>
            <a:off x="6890697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6" name="Рисунок 3">
            <a:extLst>
              <a:ext uri="{FF2B5EF4-FFF2-40B4-BE49-F238E27FC236}">
                <a16:creationId xmlns:a16="http://schemas.microsoft.com/office/drawing/2014/main" id="{F2FF0358-5E97-8E4F-7D36-C076A812679C}"/>
              </a:ext>
            </a:extLst>
          </p:cNvPr>
          <p:cNvSpPr/>
          <p:nvPr userDrawn="1"/>
        </p:nvSpPr>
        <p:spPr>
          <a:xfrm>
            <a:off x="13165992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DACB921E-34F4-B39F-CB56-695B4094A79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322449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шки с вырезами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155B62F-4A6E-2A82-8A84-5903ADA9D2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5591" y="646767"/>
            <a:ext cx="4462572" cy="482068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1351C10-78BB-5B20-4FF5-0DB0E767EC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43715" y="646767"/>
            <a:ext cx="4462572" cy="482068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52FB24B-11AB-60BA-2CC4-A900838138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5591" y="5707498"/>
            <a:ext cx="4462572" cy="482068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E0D87DE-52A9-9D4F-8F6F-A0E7DE0FD1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43715" y="5707498"/>
            <a:ext cx="4462572" cy="4820680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916BD939-3B26-76D5-C800-C54CAF8335E2}"/>
              </a:ext>
            </a:extLst>
          </p:cNvPr>
          <p:cNvSpPr/>
          <p:nvPr userDrawn="1"/>
        </p:nvSpPr>
        <p:spPr>
          <a:xfrm>
            <a:off x="611188" y="640525"/>
            <a:ext cx="9142522" cy="9860725"/>
          </a:xfrm>
          <a:prstGeom prst="roundRect">
            <a:avLst>
              <a:gd name="adj" fmla="val 5633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FBF3750D-2DFD-F99F-B82A-E3DC5B9FF4B2}"/>
              </a:ext>
            </a:extLst>
          </p:cNvPr>
          <p:cNvSpPr/>
          <p:nvPr userDrawn="1"/>
        </p:nvSpPr>
        <p:spPr>
          <a:xfrm>
            <a:off x="13574110" y="4501547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82D75B98-C8BD-7E80-EB35-404F3A4E5085}"/>
              </a:ext>
            </a:extLst>
          </p:cNvPr>
          <p:cNvSpPr/>
          <p:nvPr userDrawn="1"/>
        </p:nvSpPr>
        <p:spPr>
          <a:xfrm>
            <a:off x="18249627" y="4501547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0B3A63ED-36B1-28D9-148F-2B61F8224B1E}"/>
              </a:ext>
            </a:extLst>
          </p:cNvPr>
          <p:cNvSpPr/>
          <p:nvPr userDrawn="1"/>
        </p:nvSpPr>
        <p:spPr>
          <a:xfrm>
            <a:off x="13574110" y="9573879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4454C450-F9B0-9EAD-A161-CF618C3A67C7}"/>
              </a:ext>
            </a:extLst>
          </p:cNvPr>
          <p:cNvSpPr/>
          <p:nvPr userDrawn="1"/>
        </p:nvSpPr>
        <p:spPr>
          <a:xfrm>
            <a:off x="18249627" y="9573879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2" name="Номер слайда">
            <a:extLst>
              <a:ext uri="{FF2B5EF4-FFF2-40B4-BE49-F238E27FC236}">
                <a16:creationId xmlns:a16="http://schemas.microsoft.com/office/drawing/2014/main" id="{D1B6CA6C-26DC-2726-A85C-C4574E4DC18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1046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8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1A7209C-701D-EFF1-D053-EF206B5C75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0352" y="62"/>
            <a:ext cx="19840004" cy="11160000"/>
          </a:xfrm>
          <a:prstGeom prst="rect">
            <a:avLst/>
          </a:prstGeom>
        </p:spPr>
      </p:pic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F788B8D0-382E-E7BB-6C27-EDE5B651FA43}"/>
              </a:ext>
            </a:extLst>
          </p:cNvPr>
          <p:cNvSpPr/>
          <p:nvPr userDrawn="1"/>
        </p:nvSpPr>
        <p:spPr>
          <a:xfrm>
            <a:off x="611188" y="647700"/>
            <a:ext cx="12276137" cy="9864725"/>
          </a:xfrm>
          <a:prstGeom prst="roundRect">
            <a:avLst>
              <a:gd name="adj" fmla="val 5188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7" name="Рисунок 5">
            <a:extLst>
              <a:ext uri="{FF2B5EF4-FFF2-40B4-BE49-F238E27FC236}">
                <a16:creationId xmlns:a16="http://schemas.microsoft.com/office/drawing/2014/main" id="{51327A71-84B7-1359-8F86-115743DA08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139738" y="647700"/>
            <a:ext cx="6045749" cy="9864725"/>
          </a:xfrm>
          <a:prstGeom prst="roundRect">
            <a:avLst>
              <a:gd name="adj" fmla="val 8098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75CAD5DB-3636-72FD-E8CC-C6F5AF14168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683133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лашкой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DE015856-6BC4-C5EC-CB3A-06EBEC83D472}"/>
              </a:ext>
            </a:extLst>
          </p:cNvPr>
          <p:cNvSpPr/>
          <p:nvPr userDrawn="1"/>
        </p:nvSpPr>
        <p:spPr>
          <a:xfrm>
            <a:off x="6875463" y="647700"/>
            <a:ext cx="12312650" cy="9864725"/>
          </a:xfrm>
          <a:prstGeom prst="roundRect">
            <a:avLst>
              <a:gd name="adj" fmla="val 480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16979B78-5F90-43E6-DDA5-D62A47926D3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68573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лашкой 1-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DE015856-6BC4-C5EC-CB3A-06EBEC83D472}"/>
              </a:ext>
            </a:extLst>
          </p:cNvPr>
          <p:cNvSpPr/>
          <p:nvPr userDrawn="1"/>
        </p:nvSpPr>
        <p:spPr>
          <a:xfrm>
            <a:off x="6875463" y="647700"/>
            <a:ext cx="12312650" cy="9864725"/>
          </a:xfrm>
          <a:prstGeom prst="roundRect">
            <a:avLst>
              <a:gd name="adj" fmla="val 480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3385ED10-9BB3-A085-119F-84355A318DF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104881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лашкой 2 гор.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4D4F7591-5947-6E56-E200-33ABEB45DD29}"/>
              </a:ext>
            </a:extLst>
          </p:cNvPr>
          <p:cNvSpPr/>
          <p:nvPr userDrawn="1"/>
        </p:nvSpPr>
        <p:spPr>
          <a:xfrm>
            <a:off x="611188" y="3167064"/>
            <a:ext cx="18576925" cy="7345362"/>
          </a:xfrm>
          <a:prstGeom prst="roundRect">
            <a:avLst>
              <a:gd name="adj" fmla="val 6545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94C91BC5-2FEE-6EFE-0AB5-DC32049551F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556266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2 плашк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82686D7D-2C5B-7C59-DE64-DB7826C86F4C}"/>
              </a:ext>
            </a:extLst>
          </p:cNvPr>
          <p:cNvSpPr/>
          <p:nvPr userDrawn="1"/>
        </p:nvSpPr>
        <p:spPr>
          <a:xfrm>
            <a:off x="611189" y="3167064"/>
            <a:ext cx="9180512" cy="7345362"/>
          </a:xfrm>
          <a:prstGeom prst="roundRect">
            <a:avLst>
              <a:gd name="adj" fmla="val 725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315A0197-1B36-BE20-0422-B841D0AD33C5}"/>
              </a:ext>
            </a:extLst>
          </p:cNvPr>
          <p:cNvSpPr/>
          <p:nvPr userDrawn="1"/>
        </p:nvSpPr>
        <p:spPr>
          <a:xfrm>
            <a:off x="10048487" y="3167064"/>
            <a:ext cx="9139624" cy="7345362"/>
          </a:xfrm>
          <a:prstGeom prst="roundRect">
            <a:avLst>
              <a:gd name="adj" fmla="val 7015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DEE51519-DF49-690F-5A20-FF1251D62E6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378739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9" orient="horz" pos="1995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C6024128-7667-9EE3-6AEF-FBE898BBBA29}"/>
              </a:ext>
            </a:extLst>
          </p:cNvPr>
          <p:cNvSpPr/>
          <p:nvPr userDrawn="1"/>
        </p:nvSpPr>
        <p:spPr>
          <a:xfrm>
            <a:off x="6893719" y="647700"/>
            <a:ext cx="12294394" cy="9864725"/>
          </a:xfrm>
          <a:prstGeom prst="roundRect">
            <a:avLst>
              <a:gd name="adj" fmla="val 502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Рисунок 6">
            <a:extLst>
              <a:ext uri="{FF2B5EF4-FFF2-40B4-BE49-F238E27FC236}">
                <a16:creationId xmlns:a16="http://schemas.microsoft.com/office/drawing/2014/main" id="{32AD7565-3801-157D-ECCD-DA0A097572B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1188" y="647700"/>
            <a:ext cx="6011862" cy="9864725"/>
          </a:xfrm>
          <a:prstGeom prst="roundRect">
            <a:avLst>
              <a:gd name="adj" fmla="val 8632"/>
            </a:avLst>
          </a:prstGeom>
          <a:solidFill>
            <a:schemeClr val="accent6"/>
          </a:solidFill>
        </p:spPr>
        <p:txBody>
          <a:bodyPr lIns="360000" tIns="360000" rIns="360000" bIns="360000"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CCA51760-F1E4-DA5E-F681-1C48225929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839106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5">
            <a:extLst>
              <a:ext uri="{FF2B5EF4-FFF2-40B4-BE49-F238E27FC236}">
                <a16:creationId xmlns:a16="http://schemas.microsoft.com/office/drawing/2014/main" id="{106D8025-2673-9F76-9704-0B62B7C9FD2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1188" y="2319229"/>
            <a:ext cx="18576925" cy="4845159"/>
          </a:xfrm>
          <a:prstGeom prst="roundRect">
            <a:avLst>
              <a:gd name="adj" fmla="val 10175"/>
            </a:avLst>
          </a:prstGeom>
          <a:solidFill>
            <a:srgbClr val="E0E1E3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endParaRPr lang="ru-RU" dirty="0"/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8D415FCC-F8A2-1C2F-AB16-D14F96D831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69839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6" orient="horz" pos="1451" userDrawn="1">
          <p15:clr>
            <a:srgbClr val="FBAE40"/>
          </p15:clr>
        </p15:guide>
        <p15:guide id="39" orient="horz" pos="4513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83B3D84-087D-DD69-B9CD-1EA2D2D05C00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16" name="Рисунок 5">
            <a:extLst>
              <a:ext uri="{FF2B5EF4-FFF2-40B4-BE49-F238E27FC236}">
                <a16:creationId xmlns:a16="http://schemas.microsoft.com/office/drawing/2014/main" id="{680A0F9C-C6DA-ED07-DC42-9B1392F55F9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459788" y="647700"/>
            <a:ext cx="10725699" cy="9864725"/>
          </a:xfrm>
          <a:prstGeom prst="roundRect">
            <a:avLst>
              <a:gd name="adj" fmla="val 548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74D0E89C-6459-1FB5-B952-0CABBE20CC35}"/>
              </a:ext>
            </a:extLst>
          </p:cNvPr>
          <p:cNvSpPr/>
          <p:nvPr userDrawn="1"/>
        </p:nvSpPr>
        <p:spPr>
          <a:xfrm>
            <a:off x="613813" y="652653"/>
            <a:ext cx="7593562" cy="9859772"/>
          </a:xfrm>
          <a:prstGeom prst="roundRect">
            <a:avLst>
              <a:gd name="adj" fmla="val 6440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BF108BE3-E3A8-7336-4912-8058FF96306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088783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" pos="1161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4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6">
            <a:extLst>
              <a:ext uri="{FF2B5EF4-FFF2-40B4-BE49-F238E27FC236}">
                <a16:creationId xmlns:a16="http://schemas.microsoft.com/office/drawing/2014/main" id="{62235652-E410-14E7-3325-0B78EE2EEA6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1188" y="647700"/>
            <a:ext cx="7596187" cy="6516688"/>
          </a:xfrm>
          <a:prstGeom prst="roundRect">
            <a:avLst>
              <a:gd name="adj" fmla="val 8943"/>
            </a:avLst>
          </a:prstGeom>
          <a:solidFill>
            <a:schemeClr val="accent5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C19E53CE-B623-6004-1366-6FDE2EE962AF}"/>
              </a:ext>
            </a:extLst>
          </p:cNvPr>
          <p:cNvSpPr/>
          <p:nvPr userDrawn="1"/>
        </p:nvSpPr>
        <p:spPr>
          <a:xfrm>
            <a:off x="611188" y="7416800"/>
            <a:ext cx="7596187" cy="3095625"/>
          </a:xfrm>
          <a:prstGeom prst="roundRect">
            <a:avLst>
              <a:gd name="adj" fmla="val 1976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26B087EB-98BE-198C-78E9-848208EC6FF9}"/>
              </a:ext>
            </a:extLst>
          </p:cNvPr>
          <p:cNvSpPr/>
          <p:nvPr userDrawn="1"/>
        </p:nvSpPr>
        <p:spPr>
          <a:xfrm>
            <a:off x="8459788" y="647700"/>
            <a:ext cx="10725698" cy="9864725"/>
          </a:xfrm>
          <a:prstGeom prst="roundRect">
            <a:avLst>
              <a:gd name="adj" fmla="val 5360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3847AE31-56A8-C4CA-4584-F00061C3F0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95448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702" userDrawn="1">
          <p15:clr>
            <a:srgbClr val="FBAE40"/>
          </p15:clr>
        </p15:guide>
        <p15:guide id="2" pos="11611">
          <p15:clr>
            <a:srgbClr val="FBAE40"/>
          </p15:clr>
        </p15:guide>
        <p15:guide id="45" pos="5737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5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3">
            <a:extLst>
              <a:ext uri="{FF2B5EF4-FFF2-40B4-BE49-F238E27FC236}">
                <a16:creationId xmlns:a16="http://schemas.microsoft.com/office/drawing/2014/main" id="{FFD35A26-9840-8880-8120-6C5FC4EAA53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9799300" cy="11160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en-US" dirty="0" err="1"/>
              <a:t>В</a:t>
            </a:r>
            <a:r>
              <a:rPr lang="ru-RU" dirty="0"/>
              <a:t>ставка фото</a:t>
            </a:r>
          </a:p>
        </p:txBody>
      </p:sp>
    </p:spTree>
    <p:extLst>
      <p:ext uri="{BB962C8B-B14F-4D97-AF65-F5344CB8AC3E}">
        <p14:creationId xmlns:p14="http://schemas.microsoft.com/office/powerpoint/2010/main" val="88696386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7747A12-741B-469C-5C9A-E220CF293408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соседними углами 5">
            <a:extLst>
              <a:ext uri="{FF2B5EF4-FFF2-40B4-BE49-F238E27FC236}">
                <a16:creationId xmlns:a16="http://schemas.microsoft.com/office/drawing/2014/main" id="{6EA451E5-B806-965E-CA18-E6A3960CF92E}"/>
              </a:ext>
            </a:extLst>
          </p:cNvPr>
          <p:cNvSpPr/>
          <p:nvPr userDrawn="1"/>
        </p:nvSpPr>
        <p:spPr>
          <a:xfrm rot="16200000">
            <a:off x="5272880" y="-4013995"/>
            <a:ext cx="9864727" cy="19188112"/>
          </a:xfrm>
          <a:prstGeom prst="round2SameRect">
            <a:avLst>
              <a:gd name="adj1" fmla="val 7004"/>
              <a:gd name="adj2" fmla="val 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3ADA0302-5FE9-1BED-171B-04229C17B6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79860" y="647700"/>
            <a:ext cx="10619440" cy="9864725"/>
          </a:xfrm>
          <a:custGeom>
            <a:avLst/>
            <a:gdLst>
              <a:gd name="connsiteX0" fmla="*/ 729735 w 10619440"/>
              <a:gd name="connsiteY0" fmla="*/ 0 h 9864725"/>
              <a:gd name="connsiteX1" fmla="*/ 10619440 w 10619440"/>
              <a:gd name="connsiteY1" fmla="*/ 0 h 9864725"/>
              <a:gd name="connsiteX2" fmla="*/ 10619440 w 10619440"/>
              <a:gd name="connsiteY2" fmla="*/ 9864725 h 9864725"/>
              <a:gd name="connsiteX3" fmla="*/ 729793 w 10619440"/>
              <a:gd name="connsiteY3" fmla="*/ 9864725 h 9864725"/>
              <a:gd name="connsiteX4" fmla="*/ 0 w 10619440"/>
              <a:gd name="connsiteY4" fmla="*/ 9134932 h 9864725"/>
              <a:gd name="connsiteX5" fmla="*/ 0 w 10619440"/>
              <a:gd name="connsiteY5" fmla="*/ 729790 h 9864725"/>
              <a:gd name="connsiteX6" fmla="*/ 655176 w 10619440"/>
              <a:gd name="connsiteY6" fmla="*/ 3765 h 986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19440" h="9864725">
                <a:moveTo>
                  <a:pt x="729735" y="0"/>
                </a:moveTo>
                <a:lnTo>
                  <a:pt x="10619440" y="0"/>
                </a:lnTo>
                <a:lnTo>
                  <a:pt x="10619440" y="9864725"/>
                </a:lnTo>
                <a:lnTo>
                  <a:pt x="729793" y="9864725"/>
                </a:lnTo>
                <a:cubicBezTo>
                  <a:pt x="326739" y="9864725"/>
                  <a:pt x="0" y="9537986"/>
                  <a:pt x="0" y="9134932"/>
                </a:cubicBezTo>
                <a:lnTo>
                  <a:pt x="0" y="729790"/>
                </a:lnTo>
                <a:cubicBezTo>
                  <a:pt x="0" y="351927"/>
                  <a:pt x="287173" y="41138"/>
                  <a:pt x="655176" y="3765"/>
                </a:cubicBezTo>
                <a:close/>
              </a:path>
            </a:pathLst>
          </a:custGeom>
          <a:solidFill>
            <a:srgbClr val="E0E1E3"/>
          </a:solidFill>
        </p:spPr>
        <p:txBody>
          <a:bodyPr wrap="square" lIns="720000" tIns="720000" rIns="720000" bIns="72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рисунка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D2924A27-D394-98E3-CF54-68EDEDD5F64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343565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orient="horz" pos="861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7747A12-741B-469C-5C9A-E220CF293408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соседними углами 5">
            <a:extLst>
              <a:ext uri="{FF2B5EF4-FFF2-40B4-BE49-F238E27FC236}">
                <a16:creationId xmlns:a16="http://schemas.microsoft.com/office/drawing/2014/main" id="{6EA451E5-B806-965E-CA18-E6A3960CF92E}"/>
              </a:ext>
            </a:extLst>
          </p:cNvPr>
          <p:cNvSpPr/>
          <p:nvPr userDrawn="1"/>
        </p:nvSpPr>
        <p:spPr>
          <a:xfrm rot="16200000">
            <a:off x="5272880" y="-4013995"/>
            <a:ext cx="9864727" cy="19188112"/>
          </a:xfrm>
          <a:prstGeom prst="round2SameRect">
            <a:avLst>
              <a:gd name="adj1" fmla="val 7004"/>
              <a:gd name="adj2" fmla="val 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3ADA0302-5FE9-1BED-171B-04229C17B6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79860" y="647700"/>
            <a:ext cx="10619440" cy="9864725"/>
          </a:xfrm>
          <a:custGeom>
            <a:avLst/>
            <a:gdLst>
              <a:gd name="connsiteX0" fmla="*/ 729735 w 10619440"/>
              <a:gd name="connsiteY0" fmla="*/ 0 h 9864725"/>
              <a:gd name="connsiteX1" fmla="*/ 10619440 w 10619440"/>
              <a:gd name="connsiteY1" fmla="*/ 0 h 9864725"/>
              <a:gd name="connsiteX2" fmla="*/ 10619440 w 10619440"/>
              <a:gd name="connsiteY2" fmla="*/ 9864725 h 9864725"/>
              <a:gd name="connsiteX3" fmla="*/ 729793 w 10619440"/>
              <a:gd name="connsiteY3" fmla="*/ 9864725 h 9864725"/>
              <a:gd name="connsiteX4" fmla="*/ 0 w 10619440"/>
              <a:gd name="connsiteY4" fmla="*/ 9134932 h 9864725"/>
              <a:gd name="connsiteX5" fmla="*/ 0 w 10619440"/>
              <a:gd name="connsiteY5" fmla="*/ 729790 h 9864725"/>
              <a:gd name="connsiteX6" fmla="*/ 655176 w 10619440"/>
              <a:gd name="connsiteY6" fmla="*/ 3765 h 986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19440" h="9864725">
                <a:moveTo>
                  <a:pt x="729735" y="0"/>
                </a:moveTo>
                <a:lnTo>
                  <a:pt x="10619440" y="0"/>
                </a:lnTo>
                <a:lnTo>
                  <a:pt x="10619440" y="9864725"/>
                </a:lnTo>
                <a:lnTo>
                  <a:pt x="729793" y="9864725"/>
                </a:lnTo>
                <a:cubicBezTo>
                  <a:pt x="326739" y="9864725"/>
                  <a:pt x="0" y="9537986"/>
                  <a:pt x="0" y="9134932"/>
                </a:cubicBezTo>
                <a:lnTo>
                  <a:pt x="0" y="729790"/>
                </a:lnTo>
                <a:cubicBezTo>
                  <a:pt x="0" y="351927"/>
                  <a:pt x="287173" y="41138"/>
                  <a:pt x="655176" y="3765"/>
                </a:cubicBezTo>
                <a:close/>
              </a:path>
            </a:pathLst>
          </a:custGeom>
          <a:solidFill>
            <a:srgbClr val="E0E1E3"/>
          </a:solidFill>
        </p:spPr>
        <p:txBody>
          <a:bodyPr wrap="square" lIns="720000" tIns="720000" rIns="720000" bIns="72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рисунка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3E37D892-9D21-89E3-C92D-1E02B16D5AF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70256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orient="horz" pos="861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_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366B64EF-05C5-D58D-EA19-37B38FD87B8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0B4E9C-0298-57CE-4900-265B14F9D9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69740" y="155779"/>
            <a:ext cx="5659820" cy="10603499"/>
          </a:xfrm>
          <a:prstGeom prst="rect">
            <a:avLst/>
          </a:prstGeom>
        </p:spPr>
      </p:pic>
      <p:sp>
        <p:nvSpPr>
          <p:cNvPr id="8" name="Рисунок 11">
            <a:extLst>
              <a:ext uri="{FF2B5EF4-FFF2-40B4-BE49-F238E27FC236}">
                <a16:creationId xmlns:a16="http://schemas.microsoft.com/office/drawing/2014/main" id="{5EFFCDDF-1F21-226F-65C3-03CF23E901E1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7721650" y="855970"/>
            <a:ext cx="4356000" cy="9432255"/>
          </a:xfrm>
          <a:prstGeom prst="roundRect">
            <a:avLst>
              <a:gd name="adj" fmla="val 12642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</p:spTree>
    <p:extLst>
      <p:ext uri="{BB962C8B-B14F-4D97-AF65-F5344CB8AC3E}">
        <p14:creationId xmlns:p14="http://schemas.microsoft.com/office/powerpoint/2010/main" val="412656899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_5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с двумя скругленными противолежащими углами 2">
            <a:extLst>
              <a:ext uri="{FF2B5EF4-FFF2-40B4-BE49-F238E27FC236}">
                <a16:creationId xmlns:a16="http://schemas.microsoft.com/office/drawing/2014/main" id="{16ECE12F-E94E-5DF9-C802-07CB291461A7}"/>
              </a:ext>
            </a:extLst>
          </p:cNvPr>
          <p:cNvSpPr/>
          <p:nvPr userDrawn="1"/>
        </p:nvSpPr>
        <p:spPr>
          <a:xfrm>
            <a:off x="611188" y="3167063"/>
            <a:ext cx="6011862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Прямоугольник с двумя скругленными противолежащими углами 3">
            <a:extLst>
              <a:ext uri="{FF2B5EF4-FFF2-40B4-BE49-F238E27FC236}">
                <a16:creationId xmlns:a16="http://schemas.microsoft.com/office/drawing/2014/main" id="{177F3DFA-214B-31F0-477D-973A9FB2B4D2}"/>
              </a:ext>
            </a:extLst>
          </p:cNvPr>
          <p:cNvSpPr/>
          <p:nvPr userDrawn="1"/>
        </p:nvSpPr>
        <p:spPr>
          <a:xfrm>
            <a:off x="611188" y="9109075"/>
            <a:ext cx="6011862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16E0473F-DC3B-EB5F-D6CB-70E3142AA8D0}"/>
              </a:ext>
            </a:extLst>
          </p:cNvPr>
          <p:cNvSpPr/>
          <p:nvPr userDrawn="1"/>
        </p:nvSpPr>
        <p:spPr>
          <a:xfrm>
            <a:off x="6881359" y="3167063"/>
            <a:ext cx="6011862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E0A1433B-30EB-EFDC-0992-2C3BB276A930}"/>
              </a:ext>
            </a:extLst>
          </p:cNvPr>
          <p:cNvSpPr/>
          <p:nvPr userDrawn="1"/>
        </p:nvSpPr>
        <p:spPr>
          <a:xfrm>
            <a:off x="6881359" y="9109075"/>
            <a:ext cx="6011862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7" name="Прямоугольник с двумя скругленными противолежащими углами 6">
            <a:extLst>
              <a:ext uri="{FF2B5EF4-FFF2-40B4-BE49-F238E27FC236}">
                <a16:creationId xmlns:a16="http://schemas.microsoft.com/office/drawing/2014/main" id="{32F60909-E504-EC34-C0C7-D5EE3AE8BB78}"/>
              </a:ext>
            </a:extLst>
          </p:cNvPr>
          <p:cNvSpPr/>
          <p:nvPr userDrawn="1"/>
        </p:nvSpPr>
        <p:spPr>
          <a:xfrm>
            <a:off x="13170192" y="3167063"/>
            <a:ext cx="6011862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Прямоугольник с двумя скругленными противолежащими углами 7">
            <a:extLst>
              <a:ext uri="{FF2B5EF4-FFF2-40B4-BE49-F238E27FC236}">
                <a16:creationId xmlns:a16="http://schemas.microsoft.com/office/drawing/2014/main" id="{88323E56-13FA-8C59-3760-10F1E812EC2A}"/>
              </a:ext>
            </a:extLst>
          </p:cNvPr>
          <p:cNvSpPr/>
          <p:nvPr userDrawn="1"/>
        </p:nvSpPr>
        <p:spPr>
          <a:xfrm>
            <a:off x="13170192" y="9109075"/>
            <a:ext cx="6011862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9BC41D6-7FF2-E141-BD24-D68D3A216E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84459" y="3785793"/>
            <a:ext cx="3626535" cy="5323282"/>
          </a:xfrm>
          <a:prstGeom prst="rect">
            <a:avLst/>
          </a:prstGeom>
        </p:spPr>
      </p:pic>
      <p:sp>
        <p:nvSpPr>
          <p:cNvPr id="10" name="Рисунок 9">
            <a:extLst>
              <a:ext uri="{FF2B5EF4-FFF2-40B4-BE49-F238E27FC236}">
                <a16:creationId xmlns:a16="http://schemas.microsoft.com/office/drawing/2014/main" id="{0445A317-693C-BA35-F9FD-0B38D53916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26273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64F36A5-A931-90F9-DC15-681991E827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96075" y="3785793"/>
            <a:ext cx="3626535" cy="5323282"/>
          </a:xfrm>
          <a:prstGeom prst="rect">
            <a:avLst/>
          </a:prstGeom>
        </p:spPr>
      </p:pic>
      <p:sp>
        <p:nvSpPr>
          <p:cNvPr id="12" name="Рисунок 9">
            <a:extLst>
              <a:ext uri="{FF2B5EF4-FFF2-40B4-BE49-F238E27FC236}">
                <a16:creationId xmlns:a16="http://schemas.microsoft.com/office/drawing/2014/main" id="{53343718-A296-C12B-FA60-5A585FE120D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437889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6E59DDE-998C-8E98-753D-CF60D7FFD4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319838" y="3785793"/>
            <a:ext cx="3626535" cy="5323282"/>
          </a:xfrm>
          <a:prstGeom prst="rect">
            <a:avLst/>
          </a:prstGeom>
        </p:spPr>
      </p:pic>
      <p:sp>
        <p:nvSpPr>
          <p:cNvPr id="14" name="Рисунок 9">
            <a:extLst>
              <a:ext uri="{FF2B5EF4-FFF2-40B4-BE49-F238E27FC236}">
                <a16:creationId xmlns:a16="http://schemas.microsoft.com/office/drawing/2014/main" id="{F525E12E-69F5-046C-095E-1760440BDA8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4662391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sp>
        <p:nvSpPr>
          <p:cNvPr id="15" name="Номер слайда">
            <a:extLst>
              <a:ext uri="{FF2B5EF4-FFF2-40B4-BE49-F238E27FC236}">
                <a16:creationId xmlns:a16="http://schemas.microsoft.com/office/drawing/2014/main" id="{2D44E80A-C031-2044-8ECC-DF913BC174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38716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_компьюте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7747A12-741B-469C-5C9A-E220CF293408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CFD5FB0-9A81-3A7C-DAA4-91299088F6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29400" y="-118551"/>
            <a:ext cx="13169900" cy="11703072"/>
          </a:xfrm>
          <a:prstGeom prst="rect">
            <a:avLst/>
          </a:prstGeom>
        </p:spPr>
      </p:pic>
      <p:sp>
        <p:nvSpPr>
          <p:cNvPr id="9" name="Рисунок 18">
            <a:extLst>
              <a:ext uri="{FF2B5EF4-FFF2-40B4-BE49-F238E27FC236}">
                <a16:creationId xmlns:a16="http://schemas.microsoft.com/office/drawing/2014/main" id="{E85B5318-DE9B-9E64-A615-755452FB57B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581569" y="1274243"/>
            <a:ext cx="11229161" cy="7650999"/>
          </a:xfrm>
          <a:custGeom>
            <a:avLst/>
            <a:gdLst>
              <a:gd name="connsiteX0" fmla="*/ 208174 w 9461500"/>
              <a:gd name="connsiteY0" fmla="*/ 0 h 6446602"/>
              <a:gd name="connsiteX1" fmla="*/ 9461500 w 9461500"/>
              <a:gd name="connsiteY1" fmla="*/ 0 h 6446602"/>
              <a:gd name="connsiteX2" fmla="*/ 9461500 w 9461500"/>
              <a:gd name="connsiteY2" fmla="*/ 6446602 h 6446602"/>
              <a:gd name="connsiteX3" fmla="*/ 0 w 9461500"/>
              <a:gd name="connsiteY3" fmla="*/ 6446602 h 6446602"/>
              <a:gd name="connsiteX4" fmla="*/ 0 w 9461500"/>
              <a:gd name="connsiteY4" fmla="*/ 208291 h 6446602"/>
              <a:gd name="connsiteX5" fmla="*/ 208174 w 9461500"/>
              <a:gd name="connsiteY5" fmla="*/ 0 h 644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461500" h="6446602">
                <a:moveTo>
                  <a:pt x="208174" y="0"/>
                </a:moveTo>
                <a:lnTo>
                  <a:pt x="9461500" y="0"/>
                </a:lnTo>
                <a:lnTo>
                  <a:pt x="9461500" y="6446602"/>
                </a:lnTo>
                <a:lnTo>
                  <a:pt x="0" y="6446602"/>
                </a:lnTo>
                <a:lnTo>
                  <a:pt x="0" y="208291"/>
                </a:lnTo>
                <a:cubicBezTo>
                  <a:pt x="0" y="93255"/>
                  <a:pt x="93203" y="0"/>
                  <a:pt x="208174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B433A600-8A53-F440-CF3F-CC91E1C6FAE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404010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orient="horz" pos="861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qr кодом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AE23A0-AACE-ADD6-0628-A911DAE569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645706C0-6A13-4923-6574-EDE169364610}"/>
              </a:ext>
            </a:extLst>
          </p:cNvPr>
          <p:cNvSpPr/>
          <p:nvPr userDrawn="1"/>
        </p:nvSpPr>
        <p:spPr>
          <a:xfrm>
            <a:off x="10557164" y="1842655"/>
            <a:ext cx="7495309" cy="7481454"/>
          </a:xfrm>
          <a:prstGeom prst="roundRect">
            <a:avLst>
              <a:gd name="adj" fmla="val 8148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Рисунок 7">
            <a:extLst>
              <a:ext uri="{FF2B5EF4-FFF2-40B4-BE49-F238E27FC236}">
                <a16:creationId xmlns:a16="http://schemas.microsoft.com/office/drawing/2014/main" id="{A53F8555-2432-3EC8-BA86-230CA1B7571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444143" y="2722707"/>
            <a:ext cx="5721350" cy="5721350"/>
          </a:xfrm>
          <a:prstGeom prst="rect">
            <a:avLst/>
          </a:prstGeom>
          <a:solidFill>
            <a:schemeClr val="accent5"/>
          </a:solidFill>
        </p:spPr>
        <p:txBody>
          <a:bodyPr lIns="360000" tIns="360000" rIns="360000" bIns="360000"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Место для </a:t>
            </a:r>
            <a:r>
              <a:rPr lang="ru-RU" dirty="0" err="1"/>
              <a:t>Q</a:t>
            </a:r>
            <a:r>
              <a:rPr lang="en-US" dirty="0"/>
              <a:t>R</a:t>
            </a:r>
            <a:endParaRPr lang="ru-RU" dirty="0"/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FF5EF554-4206-B400-460C-2445949829A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2962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 слайд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AE23A0-AACE-ADD6-0628-A911DAE569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E66C56D-6598-4535-7307-3F3BBAC1A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79312" y="5134647"/>
            <a:ext cx="6040677" cy="89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4366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>
          <p15:clr>
            <a:srgbClr val="FBAE40"/>
          </p15:clr>
        </p15:guide>
        <p15:guide id="2" pos="11611">
          <p15:clr>
            <a:srgbClr val="FBAE40"/>
          </p15:clr>
        </p15:guide>
        <p15:guide id="23" orient="horz" pos="861">
          <p15:clr>
            <a:srgbClr val="FBAE40"/>
          </p15:clr>
        </p15:guide>
        <p15:guide id="44" orient="horz" pos="6169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 слайд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F788B8D0-382E-E7BB-6C27-EDE5B651FA43}"/>
              </a:ext>
            </a:extLst>
          </p:cNvPr>
          <p:cNvSpPr/>
          <p:nvPr userDrawn="1"/>
        </p:nvSpPr>
        <p:spPr>
          <a:xfrm>
            <a:off x="611188" y="647700"/>
            <a:ext cx="12276137" cy="9864725"/>
          </a:xfrm>
          <a:prstGeom prst="roundRect">
            <a:avLst>
              <a:gd name="adj" fmla="val 5188"/>
            </a:avLst>
          </a:prstGeom>
          <a:gradFill>
            <a:gsLst>
              <a:gs pos="100000">
                <a:srgbClr val="E0E1E3"/>
              </a:gs>
              <a:gs pos="0">
                <a:srgbClr val="F3F3F5">
                  <a:alpha val="80477"/>
                </a:srgbClr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7" name="Рисунок 5">
            <a:extLst>
              <a:ext uri="{FF2B5EF4-FFF2-40B4-BE49-F238E27FC236}">
                <a16:creationId xmlns:a16="http://schemas.microsoft.com/office/drawing/2014/main" id="{51327A71-84B7-1359-8F86-115743DA08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139738" y="647700"/>
            <a:ext cx="6045749" cy="9864725"/>
          </a:xfrm>
          <a:prstGeom prst="roundRect">
            <a:avLst>
              <a:gd name="adj" fmla="val 8098"/>
            </a:avLst>
          </a:prstGeom>
          <a:solidFill>
            <a:schemeClr val="accent4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9353CD5-1AE7-9078-EC33-FEC734B296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10389" y="1510158"/>
            <a:ext cx="488571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61665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899E0437-D66B-F092-7B3D-AE4F22893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574449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 userDrawn="1">
          <p15:clr>
            <a:srgbClr val="FBAE40"/>
          </p15:clr>
        </p15:guide>
        <p15:guide id="12" pos="6327" userDrawn="1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2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6420B71-BE2A-77F8-6142-EABEC83248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10"/>
            <a:ext cx="19799300" cy="11137104"/>
          </a:xfrm>
          <a:prstGeom prst="rect">
            <a:avLst/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CD6ABF4-FA5E-C290-265D-F03687E871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870196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3">
    <p:bg>
      <p:bgPr>
        <a:gradFill>
          <a:gsLst>
            <a:gs pos="0">
              <a:srgbClr val="E0E1E3"/>
            </a:gs>
            <a:gs pos="100000">
              <a:srgbClr val="F3F3F5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251D5F1-2AF4-9D4F-5EDA-3B14ECB84BB3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B936FF7C-912E-C469-CC6F-F4D6C411C6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281306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 userDrawn="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4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327BB1A-232A-915D-0822-9E971DAD31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33F4BB79-CBF9-9F96-D712-095F36FD85C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945998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4C0AF5F-F272-25C3-6AE1-16E696AAA311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9DE8B3DF-6BA0-8D54-AF33-0EE7727168C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937096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полнители для 2 изобр.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4">
            <a:extLst>
              <a:ext uri="{FF2B5EF4-FFF2-40B4-BE49-F238E27FC236}">
                <a16:creationId xmlns:a16="http://schemas.microsoft.com/office/drawing/2014/main" id="{E6E654A9-B1D1-CD31-7491-449722C6F86C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9971088" y="3010978"/>
            <a:ext cx="9429592" cy="5107688"/>
          </a:xfrm>
          <a:custGeom>
            <a:avLst/>
            <a:gdLst>
              <a:gd name="connsiteX0" fmla="*/ 513829 w 9429592"/>
              <a:gd name="connsiteY0" fmla="*/ 0 h 5107688"/>
              <a:gd name="connsiteX1" fmla="*/ 3686199 w 9429592"/>
              <a:gd name="connsiteY1" fmla="*/ 0 h 5107688"/>
              <a:gd name="connsiteX2" fmla="*/ 5517083 w 9429592"/>
              <a:gd name="connsiteY2" fmla="*/ 0 h 5107688"/>
              <a:gd name="connsiteX3" fmla="*/ 6142251 w 9429592"/>
              <a:gd name="connsiteY3" fmla="*/ 0 h 5107688"/>
              <a:gd name="connsiteX4" fmla="*/ 6559882 w 9429592"/>
              <a:gd name="connsiteY4" fmla="*/ 0 h 5107688"/>
              <a:gd name="connsiteX5" fmla="*/ 8848108 w 9429592"/>
              <a:gd name="connsiteY5" fmla="*/ 0 h 5107688"/>
              <a:gd name="connsiteX6" fmla="*/ 9429590 w 9429592"/>
              <a:gd name="connsiteY6" fmla="*/ 581482 h 5107688"/>
              <a:gd name="connsiteX7" fmla="*/ 9429590 w 9429592"/>
              <a:gd name="connsiteY7" fmla="*/ 890249 h 5107688"/>
              <a:gd name="connsiteX8" fmla="*/ 9429592 w 9429592"/>
              <a:gd name="connsiteY8" fmla="*/ 890268 h 5107688"/>
              <a:gd name="connsiteX9" fmla="*/ 9429592 w 9429592"/>
              <a:gd name="connsiteY9" fmla="*/ 913401 h 5107688"/>
              <a:gd name="connsiteX10" fmla="*/ 9429592 w 9429592"/>
              <a:gd name="connsiteY10" fmla="*/ 1749804 h 5107688"/>
              <a:gd name="connsiteX11" fmla="*/ 9429592 w 9429592"/>
              <a:gd name="connsiteY11" fmla="*/ 2459862 h 5107688"/>
              <a:gd name="connsiteX12" fmla="*/ 9429592 w 9429592"/>
              <a:gd name="connsiteY12" fmla="*/ 3096906 h 5107688"/>
              <a:gd name="connsiteX13" fmla="*/ 9429592 w 9429592"/>
              <a:gd name="connsiteY13" fmla="*/ 3319398 h 5107688"/>
              <a:gd name="connsiteX14" fmla="*/ 8835444 w 9429592"/>
              <a:gd name="connsiteY14" fmla="*/ 3912858 h 5107688"/>
              <a:gd name="connsiteX15" fmla="*/ 8241308 w 9429592"/>
              <a:gd name="connsiteY15" fmla="*/ 4508285 h 5107688"/>
              <a:gd name="connsiteX16" fmla="*/ 7643202 w 9429592"/>
              <a:gd name="connsiteY16" fmla="*/ 5107688 h 5107688"/>
              <a:gd name="connsiteX17" fmla="*/ 7424824 w 9429592"/>
              <a:gd name="connsiteY17" fmla="*/ 5107688 h 5107688"/>
              <a:gd name="connsiteX18" fmla="*/ 4045853 w 9429592"/>
              <a:gd name="connsiteY18" fmla="*/ 5107688 h 5107688"/>
              <a:gd name="connsiteX19" fmla="*/ 3903698 w 9429592"/>
              <a:gd name="connsiteY19" fmla="*/ 5107688 h 5107688"/>
              <a:gd name="connsiteX20" fmla="*/ 3886773 w 9429592"/>
              <a:gd name="connsiteY20" fmla="*/ 5105979 h 5107688"/>
              <a:gd name="connsiteX21" fmla="*/ 3686199 w 9429592"/>
              <a:gd name="connsiteY21" fmla="*/ 5105979 h 5107688"/>
              <a:gd name="connsiteX22" fmla="*/ 3585922 w 9429592"/>
              <a:gd name="connsiteY22" fmla="*/ 5095870 h 5107688"/>
              <a:gd name="connsiteX23" fmla="*/ 3581437 w 9429592"/>
              <a:gd name="connsiteY23" fmla="*/ 5094478 h 5107688"/>
              <a:gd name="connsiteX24" fmla="*/ 513829 w 9429592"/>
              <a:gd name="connsiteY24" fmla="*/ 5094478 h 5107688"/>
              <a:gd name="connsiteX25" fmla="*/ 0 w 9429592"/>
              <a:gd name="connsiteY25" fmla="*/ 4580649 h 5107688"/>
              <a:gd name="connsiteX26" fmla="*/ 0 w 9429592"/>
              <a:gd name="connsiteY26" fmla="*/ 513829 h 5107688"/>
              <a:gd name="connsiteX27" fmla="*/ 513829 w 9429592"/>
              <a:gd name="connsiteY27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429592" h="5107688">
                <a:moveTo>
                  <a:pt x="513829" y="0"/>
                </a:moveTo>
                <a:lnTo>
                  <a:pt x="3686199" y="0"/>
                </a:lnTo>
                <a:lnTo>
                  <a:pt x="5517083" y="0"/>
                </a:lnTo>
                <a:lnTo>
                  <a:pt x="6142251" y="0"/>
                </a:lnTo>
                <a:lnTo>
                  <a:pt x="6559882" y="0"/>
                </a:lnTo>
                <a:lnTo>
                  <a:pt x="8848108" y="0"/>
                </a:lnTo>
                <a:cubicBezTo>
                  <a:pt x="9169252" y="0"/>
                  <a:pt x="9429590" y="260338"/>
                  <a:pt x="9429590" y="581482"/>
                </a:cubicBezTo>
                <a:lnTo>
                  <a:pt x="9429590" y="890249"/>
                </a:lnTo>
                <a:lnTo>
                  <a:pt x="9429592" y="890268"/>
                </a:lnTo>
                <a:lnTo>
                  <a:pt x="9429592" y="913401"/>
                </a:lnTo>
                <a:lnTo>
                  <a:pt x="9429592" y="1749804"/>
                </a:lnTo>
                <a:lnTo>
                  <a:pt x="9429592" y="2459862"/>
                </a:lnTo>
                <a:lnTo>
                  <a:pt x="9429592" y="3096906"/>
                </a:lnTo>
                <a:lnTo>
                  <a:pt x="9429592" y="3319398"/>
                </a:lnTo>
                <a:cubicBezTo>
                  <a:pt x="9429592" y="3647163"/>
                  <a:pt x="9163578" y="3912858"/>
                  <a:pt x="8835444" y="3912858"/>
                </a:cubicBezTo>
                <a:cubicBezTo>
                  <a:pt x="8507312" y="3912858"/>
                  <a:pt x="8241308" y="4180531"/>
                  <a:pt x="8241308" y="4508285"/>
                </a:cubicBezTo>
                <a:cubicBezTo>
                  <a:pt x="8241308" y="4838233"/>
                  <a:pt x="7973522" y="5107688"/>
                  <a:pt x="7643202" y="5107688"/>
                </a:cubicBezTo>
                <a:lnTo>
                  <a:pt x="7424824" y="5107688"/>
                </a:lnTo>
                <a:lnTo>
                  <a:pt x="4045853" y="5107688"/>
                </a:lnTo>
                <a:lnTo>
                  <a:pt x="3903698" y="5107688"/>
                </a:lnTo>
                <a:lnTo>
                  <a:pt x="3886773" y="5105979"/>
                </a:lnTo>
                <a:lnTo>
                  <a:pt x="3686199" y="5105979"/>
                </a:lnTo>
                <a:cubicBezTo>
                  <a:pt x="3651849" y="5105979"/>
                  <a:pt x="3618312" y="5102499"/>
                  <a:pt x="3585922" y="5095870"/>
                </a:cubicBezTo>
                <a:lnTo>
                  <a:pt x="3581437" y="5094478"/>
                </a:lnTo>
                <a:lnTo>
                  <a:pt x="513829" y="5094478"/>
                </a:lnTo>
                <a:cubicBezTo>
                  <a:pt x="230049" y="5094478"/>
                  <a:pt x="0" y="4864429"/>
                  <a:pt x="0" y="4580649"/>
                </a:cubicBezTo>
                <a:lnTo>
                  <a:pt x="0" y="513829"/>
                </a:lnTo>
                <a:cubicBezTo>
                  <a:pt x="0" y="230049"/>
                  <a:pt x="230049" y="0"/>
                  <a:pt x="513829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9ECADC6E-2223-DA1B-2C88-95151E1F101A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400368" y="3010978"/>
            <a:ext cx="9429592" cy="5107688"/>
          </a:xfrm>
          <a:custGeom>
            <a:avLst/>
            <a:gdLst>
              <a:gd name="connsiteX0" fmla="*/ 513829 w 9429592"/>
              <a:gd name="connsiteY0" fmla="*/ 0 h 5107688"/>
              <a:gd name="connsiteX1" fmla="*/ 3686199 w 9429592"/>
              <a:gd name="connsiteY1" fmla="*/ 0 h 5107688"/>
              <a:gd name="connsiteX2" fmla="*/ 5517083 w 9429592"/>
              <a:gd name="connsiteY2" fmla="*/ 0 h 5107688"/>
              <a:gd name="connsiteX3" fmla="*/ 6142251 w 9429592"/>
              <a:gd name="connsiteY3" fmla="*/ 0 h 5107688"/>
              <a:gd name="connsiteX4" fmla="*/ 6559882 w 9429592"/>
              <a:gd name="connsiteY4" fmla="*/ 0 h 5107688"/>
              <a:gd name="connsiteX5" fmla="*/ 8848108 w 9429592"/>
              <a:gd name="connsiteY5" fmla="*/ 0 h 5107688"/>
              <a:gd name="connsiteX6" fmla="*/ 9429590 w 9429592"/>
              <a:gd name="connsiteY6" fmla="*/ 581482 h 5107688"/>
              <a:gd name="connsiteX7" fmla="*/ 9429590 w 9429592"/>
              <a:gd name="connsiteY7" fmla="*/ 890249 h 5107688"/>
              <a:gd name="connsiteX8" fmla="*/ 9429592 w 9429592"/>
              <a:gd name="connsiteY8" fmla="*/ 890268 h 5107688"/>
              <a:gd name="connsiteX9" fmla="*/ 9429592 w 9429592"/>
              <a:gd name="connsiteY9" fmla="*/ 913401 h 5107688"/>
              <a:gd name="connsiteX10" fmla="*/ 9429592 w 9429592"/>
              <a:gd name="connsiteY10" fmla="*/ 1749804 h 5107688"/>
              <a:gd name="connsiteX11" fmla="*/ 9429592 w 9429592"/>
              <a:gd name="connsiteY11" fmla="*/ 2459862 h 5107688"/>
              <a:gd name="connsiteX12" fmla="*/ 9429592 w 9429592"/>
              <a:gd name="connsiteY12" fmla="*/ 3096906 h 5107688"/>
              <a:gd name="connsiteX13" fmla="*/ 9429592 w 9429592"/>
              <a:gd name="connsiteY13" fmla="*/ 3319398 h 5107688"/>
              <a:gd name="connsiteX14" fmla="*/ 8835444 w 9429592"/>
              <a:gd name="connsiteY14" fmla="*/ 3912858 h 5107688"/>
              <a:gd name="connsiteX15" fmla="*/ 8241308 w 9429592"/>
              <a:gd name="connsiteY15" fmla="*/ 4508285 h 5107688"/>
              <a:gd name="connsiteX16" fmla="*/ 7643202 w 9429592"/>
              <a:gd name="connsiteY16" fmla="*/ 5107688 h 5107688"/>
              <a:gd name="connsiteX17" fmla="*/ 7424824 w 9429592"/>
              <a:gd name="connsiteY17" fmla="*/ 5107688 h 5107688"/>
              <a:gd name="connsiteX18" fmla="*/ 4045853 w 9429592"/>
              <a:gd name="connsiteY18" fmla="*/ 5107688 h 5107688"/>
              <a:gd name="connsiteX19" fmla="*/ 3903698 w 9429592"/>
              <a:gd name="connsiteY19" fmla="*/ 5107688 h 5107688"/>
              <a:gd name="connsiteX20" fmla="*/ 3886773 w 9429592"/>
              <a:gd name="connsiteY20" fmla="*/ 5105979 h 5107688"/>
              <a:gd name="connsiteX21" fmla="*/ 3686199 w 9429592"/>
              <a:gd name="connsiteY21" fmla="*/ 5105979 h 5107688"/>
              <a:gd name="connsiteX22" fmla="*/ 3585922 w 9429592"/>
              <a:gd name="connsiteY22" fmla="*/ 5095870 h 5107688"/>
              <a:gd name="connsiteX23" fmla="*/ 3581437 w 9429592"/>
              <a:gd name="connsiteY23" fmla="*/ 5094478 h 5107688"/>
              <a:gd name="connsiteX24" fmla="*/ 513829 w 9429592"/>
              <a:gd name="connsiteY24" fmla="*/ 5094478 h 5107688"/>
              <a:gd name="connsiteX25" fmla="*/ 0 w 9429592"/>
              <a:gd name="connsiteY25" fmla="*/ 4580649 h 5107688"/>
              <a:gd name="connsiteX26" fmla="*/ 0 w 9429592"/>
              <a:gd name="connsiteY26" fmla="*/ 513829 h 5107688"/>
              <a:gd name="connsiteX27" fmla="*/ 513829 w 9429592"/>
              <a:gd name="connsiteY27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429592" h="5107688">
                <a:moveTo>
                  <a:pt x="513829" y="0"/>
                </a:moveTo>
                <a:lnTo>
                  <a:pt x="3686199" y="0"/>
                </a:lnTo>
                <a:lnTo>
                  <a:pt x="5517083" y="0"/>
                </a:lnTo>
                <a:lnTo>
                  <a:pt x="6142251" y="0"/>
                </a:lnTo>
                <a:lnTo>
                  <a:pt x="6559882" y="0"/>
                </a:lnTo>
                <a:lnTo>
                  <a:pt x="8848108" y="0"/>
                </a:lnTo>
                <a:cubicBezTo>
                  <a:pt x="9169252" y="0"/>
                  <a:pt x="9429590" y="260338"/>
                  <a:pt x="9429590" y="581482"/>
                </a:cubicBezTo>
                <a:lnTo>
                  <a:pt x="9429590" y="890249"/>
                </a:lnTo>
                <a:lnTo>
                  <a:pt x="9429592" y="890268"/>
                </a:lnTo>
                <a:lnTo>
                  <a:pt x="9429592" y="913401"/>
                </a:lnTo>
                <a:lnTo>
                  <a:pt x="9429592" y="1749804"/>
                </a:lnTo>
                <a:lnTo>
                  <a:pt x="9429592" y="2459862"/>
                </a:lnTo>
                <a:lnTo>
                  <a:pt x="9429592" y="3096906"/>
                </a:lnTo>
                <a:lnTo>
                  <a:pt x="9429592" y="3319398"/>
                </a:lnTo>
                <a:cubicBezTo>
                  <a:pt x="9429592" y="3647163"/>
                  <a:pt x="9163578" y="3912858"/>
                  <a:pt x="8835444" y="3912858"/>
                </a:cubicBezTo>
                <a:cubicBezTo>
                  <a:pt x="8507312" y="3912858"/>
                  <a:pt x="8241308" y="4180531"/>
                  <a:pt x="8241308" y="4508285"/>
                </a:cubicBezTo>
                <a:cubicBezTo>
                  <a:pt x="8241308" y="4838233"/>
                  <a:pt x="7973522" y="5107688"/>
                  <a:pt x="7643202" y="5107688"/>
                </a:cubicBezTo>
                <a:lnTo>
                  <a:pt x="7424824" y="5107688"/>
                </a:lnTo>
                <a:lnTo>
                  <a:pt x="4045853" y="5107688"/>
                </a:lnTo>
                <a:lnTo>
                  <a:pt x="3903698" y="5107688"/>
                </a:lnTo>
                <a:lnTo>
                  <a:pt x="3886773" y="5105979"/>
                </a:lnTo>
                <a:lnTo>
                  <a:pt x="3686199" y="5105979"/>
                </a:lnTo>
                <a:cubicBezTo>
                  <a:pt x="3651849" y="5105979"/>
                  <a:pt x="3618312" y="5102499"/>
                  <a:pt x="3585922" y="5095870"/>
                </a:cubicBezTo>
                <a:lnTo>
                  <a:pt x="3581437" y="5094478"/>
                </a:lnTo>
                <a:lnTo>
                  <a:pt x="513829" y="5094478"/>
                </a:lnTo>
                <a:cubicBezTo>
                  <a:pt x="230049" y="5094478"/>
                  <a:pt x="0" y="4864429"/>
                  <a:pt x="0" y="4580649"/>
                </a:cubicBezTo>
                <a:lnTo>
                  <a:pt x="0" y="513829"/>
                </a:lnTo>
                <a:cubicBezTo>
                  <a:pt x="0" y="230049"/>
                  <a:pt x="230049" y="0"/>
                  <a:pt x="513829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</p:spTree>
    <p:extLst>
      <p:ext uri="{BB962C8B-B14F-4D97-AF65-F5344CB8AC3E}">
        <p14:creationId xmlns:p14="http://schemas.microsoft.com/office/powerpoint/2010/main" val="35635916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63B56008-A337-B822-0430-FAE6377E5C0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845" r:id="rId2"/>
    <p:sldLayoutId id="2147483854" r:id="rId3"/>
    <p:sldLayoutId id="2147483782" r:id="rId4"/>
    <p:sldLayoutId id="2147483837" r:id="rId5"/>
    <p:sldLayoutId id="2147483776" r:id="rId6"/>
    <p:sldLayoutId id="2147483836" r:id="rId7"/>
    <p:sldLayoutId id="2147483789" r:id="rId8"/>
    <p:sldLayoutId id="2147483799" r:id="rId9"/>
    <p:sldLayoutId id="2147483769" r:id="rId10"/>
    <p:sldLayoutId id="2147483784" r:id="rId11"/>
    <p:sldLayoutId id="2147483786" r:id="rId12"/>
    <p:sldLayoutId id="2147483772" r:id="rId13"/>
    <p:sldLayoutId id="2147483785" r:id="rId14"/>
    <p:sldLayoutId id="2147483859" r:id="rId15"/>
    <p:sldLayoutId id="2147483860" r:id="rId16"/>
    <p:sldLayoutId id="2147483783" r:id="rId17"/>
    <p:sldLayoutId id="2147483852" r:id="rId18"/>
    <p:sldLayoutId id="2147483820" r:id="rId19"/>
    <p:sldLayoutId id="2147483777" r:id="rId20"/>
    <p:sldLayoutId id="2147483823" r:id="rId21"/>
    <p:sldLayoutId id="2147483813" r:id="rId22"/>
    <p:sldLayoutId id="2147483814" r:id="rId23"/>
    <p:sldLayoutId id="2147483787" r:id="rId24"/>
    <p:sldLayoutId id="2147483846" r:id="rId25"/>
    <p:sldLayoutId id="2147483790" r:id="rId26"/>
    <p:sldLayoutId id="2147483791" r:id="rId27"/>
    <p:sldLayoutId id="2147483849" r:id="rId28"/>
    <p:sldLayoutId id="2147483792" r:id="rId29"/>
    <p:sldLayoutId id="2147483839" r:id="rId30"/>
    <p:sldLayoutId id="2147483840" r:id="rId31"/>
    <p:sldLayoutId id="2147483810" r:id="rId32"/>
    <p:sldLayoutId id="2147483829" r:id="rId33"/>
    <p:sldLayoutId id="2147483830" r:id="rId34"/>
    <p:sldLayoutId id="2147483831" r:id="rId35"/>
    <p:sldLayoutId id="2147483838" r:id="rId36"/>
    <p:sldLayoutId id="2147483800" r:id="rId37"/>
    <p:sldLayoutId id="2147483825" r:id="rId38"/>
    <p:sldLayoutId id="2147483826" r:id="rId39"/>
    <p:sldLayoutId id="2147483828" r:id="rId40"/>
    <p:sldLayoutId id="2147483801" r:id="rId41"/>
    <p:sldLayoutId id="2147483802" r:id="rId42"/>
    <p:sldLayoutId id="2147483858" r:id="rId43"/>
    <p:sldLayoutId id="2147483851" r:id="rId44"/>
    <p:sldLayoutId id="2147483809" r:id="rId45"/>
    <p:sldLayoutId id="2147483841" r:id="rId46"/>
    <p:sldLayoutId id="2147483847" r:id="rId47"/>
    <p:sldLayoutId id="2147483863" r:id="rId48"/>
    <p:sldLayoutId id="2147483834" r:id="rId49"/>
    <p:sldLayoutId id="2147483832" r:id="rId50"/>
    <p:sldLayoutId id="2147483835" r:id="rId51"/>
    <p:sldLayoutId id="2147483833" r:id="rId52"/>
    <p:sldLayoutId id="2147483843" r:id="rId53"/>
    <p:sldLayoutId id="2147483864" r:id="rId54"/>
  </p:sldLayoutIdLst>
  <p:transition spd="med"/>
  <p:hf hdr="0" ftr="0" dt="0"/>
  <p:txStyles>
    <p:titleStyle>
      <a:lvl1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1pPr>
      <a:lvl2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2pPr>
      <a:lvl3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3pPr>
      <a:lvl4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4pPr>
      <a:lvl5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5pPr>
      <a:lvl6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6pPr>
      <a:lvl7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7pPr>
      <a:lvl8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8pPr>
      <a:lvl9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9pPr>
    </p:titleStyle>
    <p:bodyStyle>
      <a:lvl1pPr marL="0" marR="0" indent="0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None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1pPr>
      <a:lvl2pPr marL="708566" marR="0" indent="-438064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2pPr>
      <a:lvl3pPr marL="1417132" marR="0" indent="-517712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3pPr>
      <a:lvl4pPr marL="2125697" marR="0" indent="-589121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4pPr>
      <a:lvl5pPr marL="3560341" marR="0" indent="-589121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5pPr>
      <a:lvl6pPr marL="4303145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6pPr>
      <a:lvl7pPr marL="5045952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7pPr>
      <a:lvl8pPr marL="5788754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8pPr>
      <a:lvl9pPr marL="6531561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9pPr>
    </p:bodyStyle>
    <p:otherStyle>
      <a:lvl1pPr marL="0" marR="0" indent="0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1pPr>
      <a:lvl2pPr marL="0" marR="0" indent="449939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2pPr>
      <a:lvl3pPr marL="0" marR="0" indent="899880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3pPr>
      <a:lvl4pPr marL="0" marR="0" indent="1349818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4pPr>
      <a:lvl5pPr marL="0" marR="0" indent="1799759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5pPr>
      <a:lvl6pPr marL="0" marR="0" indent="2249696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6pPr>
      <a:lvl7pPr marL="0" marR="0" indent="2699635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7pPr>
      <a:lvl8pPr marL="0" marR="0" indent="3149576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8pPr>
      <a:lvl9pPr marL="0" marR="0" indent="3599515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9pPr>
    </p:otherStyle>
  </p:txStyles>
  <p:extLst>
    <p:ext uri="{27BBF7A9-308A-43DC-89C8-2F10F3537804}">
      <p15:sldGuideLst xmlns:p15="http://schemas.microsoft.com/office/powerpoint/2012/main">
        <p15:guide id="1" pos="385" userDrawn="1">
          <p15:clr>
            <a:srgbClr val="F26B43"/>
          </p15:clr>
        </p15:guide>
        <p15:guide id="2" orient="horz" pos="408" userDrawn="1">
          <p15:clr>
            <a:srgbClr val="F26B43"/>
          </p15:clr>
        </p15:guide>
        <p15:guide id="3" pos="12087" userDrawn="1">
          <p15:clr>
            <a:srgbClr val="F26B43"/>
          </p15:clr>
        </p15:guide>
        <p15:guide id="4" orient="horz" pos="66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4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4.xml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15313" y="4320139"/>
            <a:ext cx="109728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Семинар</a:t>
            </a:r>
            <a:r>
              <a:rPr sz="8000" dirty="0">
                <a:solidFill>
                  <a:srgbClr val="0A0A0A"/>
                </a:solidFill>
                <a:latin typeface="T-Sans"/>
                <a:ea typeface="T-Sans" pitchFamily="2" charset="0"/>
              </a:rPr>
              <a:t> 3. </a:t>
            </a:r>
            <a:endParaRPr lang="ru-RU" sz="8000" dirty="0">
              <a:solidFill>
                <a:srgbClr val="0A0A0A"/>
              </a:solidFill>
              <a:latin typeface="T-Sans"/>
              <a:ea typeface="T-Sans" pitchFamily="2" charset="0"/>
            </a:endParaRPr>
          </a:p>
          <a:p>
            <a:r>
              <a:rPr sz="48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Функциональная</a:t>
            </a:r>
            <a:r>
              <a:rPr sz="48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48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парадигма</a:t>
            </a:r>
            <a:r>
              <a:rPr sz="48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48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в</a:t>
            </a:r>
            <a:r>
              <a:rPr sz="4800" dirty="0">
                <a:solidFill>
                  <a:srgbClr val="0A0A0A"/>
                </a:solidFill>
                <a:latin typeface="T-Sans"/>
                <a:ea typeface="T-Sans" pitchFamily="2" charset="0"/>
              </a:rPr>
              <a:t> 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15313" y="655826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 dirty="0">
                <a:latin typeface="T-Sans" pitchFamily="2" charset="0"/>
                <a:ea typeface="T-Sans" pitchFamily="2" charset="0"/>
              </a:rPr>
              <a:t>λ</a:t>
            </a:r>
            <a:r>
              <a:rPr lang="ru-RU" sz="2400" dirty="0">
                <a:solidFill>
                  <a:srgbClr val="0A0A0A"/>
                </a:solidFill>
                <a:latin typeface="T-Sans" pitchFamily="2" charset="0"/>
                <a:ea typeface="T-Sans" pitchFamily="2" charset="0"/>
              </a:rPr>
              <a:t> </a:t>
            </a:r>
            <a:r>
              <a:rPr lang="en-US" sz="2400" dirty="0">
                <a:solidFill>
                  <a:srgbClr val="0A0A0A"/>
                </a:solidFill>
                <a:latin typeface="T-Sans" pitchFamily="2" charset="0"/>
                <a:ea typeface="T-Sans" pitchFamily="2" charset="0"/>
              </a:rPr>
              <a:t>-&gt;</a:t>
            </a:r>
            <a:r>
              <a:rPr lang="en-US" sz="2400" dirty="0">
                <a:latin typeface="T-Sans" pitchFamily="2" charset="0"/>
                <a:ea typeface="T-Sans" pitchFamily="2" charset="0"/>
              </a:rPr>
              <a:t> </a:t>
            </a:r>
            <a:r>
              <a:rPr lang="ru-RU" sz="2400" dirty="0">
                <a:latin typeface="T-Sans" pitchFamily="2" charset="0"/>
                <a:ea typeface="T-Sans" pitchFamily="2" charset="0"/>
              </a:rPr>
              <a:t>функции</a:t>
            </a:r>
            <a:r>
              <a:rPr lang="en-US" sz="2400" dirty="0">
                <a:solidFill>
                  <a:srgbClr val="0A0A0A"/>
                </a:solidFill>
                <a:latin typeface="T-Sans" pitchFamily="2" charset="0"/>
                <a:ea typeface="T-Sans" pitchFamily="2" charset="0"/>
              </a:rPr>
              <a:t>,</a:t>
            </a:r>
            <a:r>
              <a:rPr sz="2400" dirty="0">
                <a:solidFill>
                  <a:srgbClr val="0A0A0A"/>
                </a:solidFill>
                <a:latin typeface="T-Sans" pitchFamily="2" charset="0"/>
                <a:ea typeface="T-Sans" pitchFamily="2" charset="0"/>
              </a:rPr>
              <a:t> </a:t>
            </a:r>
            <a:r>
              <a:rPr lang="en-US" sz="2400" dirty="0">
                <a:solidFill>
                  <a:srgbClr val="0A0A0A"/>
                </a:solidFill>
                <a:latin typeface="T-Sans" pitchFamily="2" charset="0"/>
                <a:ea typeface="T-Sans" pitchFamily="2" charset="0"/>
              </a:rPr>
              <a:t>G</a:t>
            </a:r>
            <a:r>
              <a:rPr sz="2400" dirty="0">
                <a:solidFill>
                  <a:srgbClr val="0A0A0A"/>
                </a:solidFill>
                <a:latin typeface="T-Sans" pitchFamily="2" charset="0"/>
                <a:ea typeface="T-Sans" pitchFamily="2" charset="0"/>
              </a:rPr>
              <a:t>enerics, Optional, </a:t>
            </a:r>
            <a:r>
              <a:rPr sz="2400" dirty="0" err="1">
                <a:solidFill>
                  <a:srgbClr val="0A0A0A"/>
                </a:solidFill>
                <a:latin typeface="T-Sans" pitchFamily="2" charset="0"/>
                <a:ea typeface="T-Sans" pitchFamily="2" charset="0"/>
              </a:rPr>
              <a:t>Vavr</a:t>
            </a:r>
            <a:endParaRPr sz="2400" dirty="0">
              <a:solidFill>
                <a:srgbClr val="0A0A0A"/>
              </a:solidFill>
              <a:latin typeface="T-Sans" pitchFamily="2" charset="0"/>
              <a:ea typeface="T-Sans" pitchFamily="2" charset="0"/>
            </a:endParaRP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C55DE2C4-35F6-8C4D-B91D-924FBBFD2B8F}"/>
              </a:ext>
            </a:extLst>
          </p:cNvPr>
          <p:cNvGrpSpPr/>
          <p:nvPr/>
        </p:nvGrpSpPr>
        <p:grpSpPr>
          <a:xfrm>
            <a:off x="8211312" y="8783778"/>
            <a:ext cx="612776" cy="612776"/>
            <a:chOff x="6884958" y="8711671"/>
            <a:chExt cx="921394" cy="921394"/>
          </a:xfrm>
        </p:grpSpPr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78E7EA02-44CE-2ABC-35A3-219AA4555040}"/>
                </a:ext>
              </a:extLst>
            </p:cNvPr>
            <p:cNvSpPr/>
            <p:nvPr/>
          </p:nvSpPr>
          <p:spPr>
            <a:xfrm>
              <a:off x="6884958" y="8711671"/>
              <a:ext cx="921394" cy="921394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endParaRPr>
            </a:p>
          </p:txBody>
        </p:sp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4AC7CB32-9B69-7078-94B9-BC913DD96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121611" y="8948324"/>
              <a:ext cx="448089" cy="448089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172D3CE-B46B-70A8-D436-3F23C015C980}"/>
              </a:ext>
            </a:extLst>
          </p:cNvPr>
          <p:cNvSpPr txBox="1"/>
          <p:nvPr/>
        </p:nvSpPr>
        <p:spPr>
          <a:xfrm>
            <a:off x="9046660" y="8943027"/>
            <a:ext cx="10129008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400"/>
              </a:lnSpc>
              <a:defRPr sz="2400">
                <a:solidFill>
                  <a:schemeClr val="accent6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Хасанов Анвар | Старший разработчик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66838" y="647701"/>
            <a:ext cx="73133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План</a:t>
            </a:r>
            <a:r>
              <a:rPr sz="60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60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семинара</a:t>
            </a:r>
            <a:endParaRPr sz="6000" dirty="0">
              <a:solidFill>
                <a:srgbClr val="0A0A0A"/>
              </a:solidFill>
              <a:latin typeface="T-Sans"/>
              <a:ea typeface="T-Sans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66838" y="2011680"/>
            <a:ext cx="731996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Что такое функциональный подход и как он применим в </a:t>
            </a:r>
            <a:r>
              <a:rPr lang="en-US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java</a:t>
            </a:r>
            <a:endParaRPr sz="2800" dirty="0">
              <a:solidFill>
                <a:srgbClr val="0A0A0A"/>
              </a:solidFill>
              <a:latin typeface="T-Sans"/>
              <a:ea typeface="T-San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3C476A-EE4E-35DB-F541-BE51DC45941A}"/>
              </a:ext>
            </a:extLst>
          </p:cNvPr>
          <p:cNvSpPr txBox="1"/>
          <p:nvPr/>
        </p:nvSpPr>
        <p:spPr>
          <a:xfrm>
            <a:off x="1366838" y="8758263"/>
            <a:ext cx="7871303" cy="12105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28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Байткод</a:t>
            </a: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: лямбда </a:t>
            </a:r>
            <a:r>
              <a:rPr lang="en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vs </a:t>
            </a: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анонимный класс</a:t>
            </a:r>
            <a:endParaRPr lang="en" sz="2800" dirty="0">
              <a:solidFill>
                <a:srgbClr val="0A0A0A"/>
              </a:solidFill>
              <a:latin typeface="T-Sans"/>
              <a:ea typeface="T-Sans" pitchFamily="2" charset="0"/>
            </a:endParaRP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Try-catch VS </a:t>
            </a:r>
            <a:r>
              <a:rPr lang="en" sz="28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Vavr</a:t>
            </a:r>
            <a:endParaRPr lang="en" sz="2800" dirty="0">
              <a:solidFill>
                <a:srgbClr val="0A0A0A"/>
              </a:solidFill>
              <a:latin typeface="T-Sans"/>
              <a:ea typeface="T-Sans" pitchFamily="2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D14764B-B398-4D06-21A1-F58C6C9B454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" b="12"/>
          <a:stretch/>
        </p:blipFill>
        <p:spPr/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ACFB48-4CBB-0492-6F64-CC07353610D3}"/>
              </a:ext>
            </a:extLst>
          </p:cNvPr>
          <p:cNvSpPr txBox="1"/>
          <p:nvPr/>
        </p:nvSpPr>
        <p:spPr>
          <a:xfrm>
            <a:off x="1366838" y="7728921"/>
            <a:ext cx="1868458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Advanced</a:t>
            </a:r>
            <a:endParaRPr kumimoji="0" lang="ru-RU" sz="36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D5438D-9CA3-4B83-BF9E-BC4A9D451478}"/>
              </a:ext>
            </a:extLst>
          </p:cNvPr>
          <p:cNvSpPr txBox="1"/>
          <p:nvPr/>
        </p:nvSpPr>
        <p:spPr>
          <a:xfrm>
            <a:off x="1366838" y="3315594"/>
            <a:ext cx="7660767" cy="6514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Зачем нужны </a:t>
            </a:r>
            <a:r>
              <a:rPr lang="en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Generics </a:t>
            </a: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и что такое </a:t>
            </a:r>
            <a:r>
              <a:rPr lang="en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type erasure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30038C-692B-D87F-D1AC-FCC8D164BCEF}"/>
              </a:ext>
            </a:extLst>
          </p:cNvPr>
          <p:cNvSpPr txBox="1"/>
          <p:nvPr/>
        </p:nvSpPr>
        <p:spPr>
          <a:xfrm>
            <a:off x="1366838" y="5576196"/>
            <a:ext cx="7438766" cy="17697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Добавим </a:t>
            </a:r>
            <a:r>
              <a:rPr lang="en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Registry&lt;K,V&gt; </a:t>
            </a: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в </a:t>
            </a:r>
            <a:r>
              <a:rPr lang="en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factory</a:t>
            </a: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Минималистично  перепишем наш </a:t>
            </a:r>
            <a:r>
              <a:rPr lang="en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strategy</a:t>
            </a:r>
            <a:endParaRPr lang="ru-RU" sz="2800" dirty="0">
              <a:solidFill>
                <a:srgbClr val="0A0A0A"/>
              </a:solidFill>
              <a:latin typeface="T-Sans"/>
              <a:ea typeface="T-Sans" pitchFamily="2" charset="0"/>
            </a:endParaRP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Optional: </a:t>
            </a: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прощаемся с </a:t>
            </a:r>
            <a:r>
              <a:rPr lang="en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null </a:t>
            </a:r>
            <a:r>
              <a:rPr lang="ru-RU" sz="2800" dirty="0">
                <a:solidFill>
                  <a:srgbClr val="0A0A0A"/>
                </a:solidFill>
                <a:latin typeface="T-Sans"/>
                <a:ea typeface="T-Sans" pitchFamily="2" charset="0"/>
              </a:rPr>
              <a:t>в репозитории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414991-548B-4457-9AFC-9803DFBB0237}"/>
              </a:ext>
            </a:extLst>
          </p:cNvPr>
          <p:cNvSpPr txBox="1"/>
          <p:nvPr/>
        </p:nvSpPr>
        <p:spPr>
          <a:xfrm>
            <a:off x="1366838" y="4560532"/>
            <a:ext cx="7864509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/>
            <a:r>
              <a:rPr lang="ru-RU" sz="3600" dirty="0">
                <a:solidFill>
                  <a:srgbClr val="0A0A0A"/>
                </a:solidFill>
                <a:latin typeface="T-Sans"/>
                <a:ea typeface="T-Sans" pitchFamily="2" charset="0"/>
              </a:rPr>
              <a:t>Улучшим наш проект!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1E5570F8-9A9F-285E-4E03-BD9A6CF4F0B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3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4E705-425A-AD37-7C82-42FF7D07134B}"/>
              </a:ext>
            </a:extLst>
          </p:cNvPr>
          <p:cNvSpPr txBox="1"/>
          <p:nvPr/>
        </p:nvSpPr>
        <p:spPr>
          <a:xfrm>
            <a:off x="1366838" y="1366838"/>
            <a:ext cx="16653976" cy="10248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7200" b="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Функциональное программирование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C7B878-EA30-7CE0-B47F-9C6D305F1DA2}"/>
              </a:ext>
            </a:extLst>
          </p:cNvPr>
          <p:cNvSpPr txBox="1"/>
          <p:nvPr/>
        </p:nvSpPr>
        <p:spPr>
          <a:xfrm>
            <a:off x="1539705" y="2461128"/>
            <a:ext cx="14543323" cy="6370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Функциональные интерфейсы и лямбда функции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375AF28-2D74-14FD-7DA9-5EEF4BD0A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8909" y="5727061"/>
            <a:ext cx="1764917" cy="1764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098792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Полилиния 42">
            <a:extLst>
              <a:ext uri="{FF2B5EF4-FFF2-40B4-BE49-F238E27FC236}">
                <a16:creationId xmlns:a16="http://schemas.microsoft.com/office/drawing/2014/main" id="{C88D9C8E-498A-3DF7-65E0-3D6F64F18B6A}"/>
              </a:ext>
            </a:extLst>
          </p:cNvPr>
          <p:cNvSpPr/>
          <p:nvPr/>
        </p:nvSpPr>
        <p:spPr>
          <a:xfrm>
            <a:off x="395288" y="401595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94D86F50-CA3E-CC8A-4526-A654B5CFFC8A}"/>
              </a:ext>
            </a:extLst>
          </p:cNvPr>
          <p:cNvSpPr/>
          <p:nvPr/>
        </p:nvSpPr>
        <p:spPr>
          <a:xfrm>
            <a:off x="5617545" y="448702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sp>
        <p:nvSpPr>
          <p:cNvPr id="22" name="Полилиния 21">
            <a:extLst>
              <a:ext uri="{FF2B5EF4-FFF2-40B4-BE49-F238E27FC236}">
                <a16:creationId xmlns:a16="http://schemas.microsoft.com/office/drawing/2014/main" id="{0B05CE30-B97D-B0FE-4389-306D75B2FCBF}"/>
              </a:ext>
            </a:extLst>
          </p:cNvPr>
          <p:cNvSpPr/>
          <p:nvPr/>
        </p:nvSpPr>
        <p:spPr>
          <a:xfrm>
            <a:off x="395288" y="5686827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76E02308-E540-DB6E-066E-013CC1748239}"/>
              </a:ext>
            </a:extLst>
          </p:cNvPr>
          <p:cNvSpPr/>
          <p:nvPr/>
        </p:nvSpPr>
        <p:spPr>
          <a:xfrm>
            <a:off x="5617545" y="9772253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AF66F7-80D4-BCC7-2099-618E63B667F9}"/>
              </a:ext>
            </a:extLst>
          </p:cNvPr>
          <p:cNvSpPr txBox="1"/>
          <p:nvPr/>
        </p:nvSpPr>
        <p:spPr>
          <a:xfrm>
            <a:off x="925085" y="7031010"/>
            <a:ext cx="4716462" cy="14126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Можем сохранять функции в переменные и передавать в другие функции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E13CFE-EFB5-4EA0-D49D-5443B2130518}"/>
              </a:ext>
            </a:extLst>
          </p:cNvPr>
          <p:cNvSpPr txBox="1"/>
          <p:nvPr/>
        </p:nvSpPr>
        <p:spPr>
          <a:xfrm>
            <a:off x="925085" y="6257899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ru-RU" dirty="0"/>
              <a:t>Функции = объекты</a:t>
            </a: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051" y="4718527"/>
            <a:ext cx="571763" cy="571763"/>
          </a:xfrm>
          <a:prstGeom prst="rect">
            <a:avLst/>
          </a:prstGeom>
        </p:spPr>
      </p:pic>
      <p:sp>
        <p:nvSpPr>
          <p:cNvPr id="23" name="Полилиния 22">
            <a:extLst>
              <a:ext uri="{FF2B5EF4-FFF2-40B4-BE49-F238E27FC236}">
                <a16:creationId xmlns:a16="http://schemas.microsoft.com/office/drawing/2014/main" id="{D9FD5FE2-3858-E863-1F9E-02ED4DC5A4E3}"/>
              </a:ext>
            </a:extLst>
          </p:cNvPr>
          <p:cNvSpPr/>
          <p:nvPr/>
        </p:nvSpPr>
        <p:spPr>
          <a:xfrm>
            <a:off x="6767513" y="5675438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4" name="Полилиния 23">
            <a:extLst>
              <a:ext uri="{FF2B5EF4-FFF2-40B4-BE49-F238E27FC236}">
                <a16:creationId xmlns:a16="http://schemas.microsoft.com/office/drawing/2014/main" id="{9F78A87F-C6DC-B2E3-F9B6-EA716FBF59E4}"/>
              </a:ext>
            </a:extLst>
          </p:cNvPr>
          <p:cNvSpPr/>
          <p:nvPr/>
        </p:nvSpPr>
        <p:spPr>
          <a:xfrm>
            <a:off x="13176249" y="5675438"/>
            <a:ext cx="6240963" cy="5107688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F66A591E-4B96-07AD-2FA5-CD9B66C6678C}"/>
              </a:ext>
            </a:extLst>
          </p:cNvPr>
          <p:cNvSpPr/>
          <p:nvPr/>
        </p:nvSpPr>
        <p:spPr>
          <a:xfrm>
            <a:off x="12006646" y="974765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4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80EF26C3-8987-8434-B70C-A5EB1125BBFB}"/>
              </a:ext>
            </a:extLst>
          </p:cNvPr>
          <p:cNvSpPr/>
          <p:nvPr/>
        </p:nvSpPr>
        <p:spPr>
          <a:xfrm>
            <a:off x="18373772" y="974765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13B7FC-E73B-5A4E-FF6D-76D0F125F818}"/>
              </a:ext>
            </a:extLst>
          </p:cNvPr>
          <p:cNvSpPr txBox="1"/>
          <p:nvPr/>
        </p:nvSpPr>
        <p:spPr>
          <a:xfrm>
            <a:off x="13724509" y="6998840"/>
            <a:ext cx="4716462" cy="1892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Lisp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Scala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(ФП + ООП)</a:t>
            </a: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Haskell</a:t>
            </a: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JS (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отчасти)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1758A7-6D17-F0A2-4C2C-665CF35595DB}"/>
              </a:ext>
            </a:extLst>
          </p:cNvPr>
          <p:cNvSpPr txBox="1"/>
          <p:nvPr/>
        </p:nvSpPr>
        <p:spPr>
          <a:xfrm>
            <a:off x="13724509" y="6225729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ru-RU" dirty="0"/>
              <a:t>Языки ФП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074A11-2316-9778-A54E-D9291C93FA6D}"/>
              </a:ext>
            </a:extLst>
          </p:cNvPr>
          <p:cNvSpPr txBox="1"/>
          <p:nvPr/>
        </p:nvSpPr>
        <p:spPr>
          <a:xfrm>
            <a:off x="7324797" y="6998840"/>
            <a:ext cx="4716462" cy="14126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В отличии от императивного подхода разработчик описывает скорее что надо сделать а не как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980191-BD99-1238-3D4D-760384442BBC}"/>
              </a:ext>
            </a:extLst>
          </p:cNvPr>
          <p:cNvSpPr txBox="1"/>
          <p:nvPr/>
        </p:nvSpPr>
        <p:spPr>
          <a:xfrm>
            <a:off x="7324797" y="6225729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ru-RU" dirty="0"/>
              <a:t>Декларативный подход</a:t>
            </a:r>
          </a:p>
        </p:txBody>
      </p:sp>
      <p:sp>
        <p:nvSpPr>
          <p:cNvPr id="25" name="Полилиния 24">
            <a:extLst>
              <a:ext uri="{FF2B5EF4-FFF2-40B4-BE49-F238E27FC236}">
                <a16:creationId xmlns:a16="http://schemas.microsoft.com/office/drawing/2014/main" id="{5D9867AC-90FF-E151-42B1-155295802A6F}"/>
              </a:ext>
            </a:extLst>
          </p:cNvPr>
          <p:cNvSpPr/>
          <p:nvPr/>
        </p:nvSpPr>
        <p:spPr>
          <a:xfrm>
            <a:off x="6767513" y="408494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8" name="Полилиния 27">
            <a:extLst>
              <a:ext uri="{FF2B5EF4-FFF2-40B4-BE49-F238E27FC236}">
                <a16:creationId xmlns:a16="http://schemas.microsoft.com/office/drawing/2014/main" id="{EB5F817E-C406-DCD4-976B-07D13056C790}"/>
              </a:ext>
            </a:extLst>
          </p:cNvPr>
          <p:cNvSpPr/>
          <p:nvPr/>
        </p:nvSpPr>
        <p:spPr>
          <a:xfrm>
            <a:off x="13176249" y="408494"/>
            <a:ext cx="6240963" cy="5107688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F16F969E-B1C1-882E-5BD4-24F9E1F3B8C3}"/>
              </a:ext>
            </a:extLst>
          </p:cNvPr>
          <p:cNvSpPr/>
          <p:nvPr/>
        </p:nvSpPr>
        <p:spPr>
          <a:xfrm>
            <a:off x="12006646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1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640AFFE3-A146-61AA-AE75-7110156C9FD1}"/>
              </a:ext>
            </a:extLst>
          </p:cNvPr>
          <p:cNvSpPr/>
          <p:nvPr/>
        </p:nvSpPr>
        <p:spPr>
          <a:xfrm>
            <a:off x="18373772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B17BE9-CD1F-5740-13E2-D295FF2ECD30}"/>
              </a:ext>
            </a:extLst>
          </p:cNvPr>
          <p:cNvSpPr txBox="1"/>
          <p:nvPr/>
        </p:nvSpPr>
        <p:spPr>
          <a:xfrm>
            <a:off x="13724509" y="1731896"/>
            <a:ext cx="4716462" cy="9325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Данные неизменяемы, если надо их изменить – создаем новые копии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685FD4-DDF3-5D1F-3A89-569A72214BEA}"/>
              </a:ext>
            </a:extLst>
          </p:cNvPr>
          <p:cNvSpPr txBox="1"/>
          <p:nvPr/>
        </p:nvSpPr>
        <p:spPr>
          <a:xfrm>
            <a:off x="13724509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Immutability</a:t>
            </a:r>
            <a:endParaRPr lang="ru-RU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DD79C2-3211-B96A-2AB9-AAA624525164}"/>
              </a:ext>
            </a:extLst>
          </p:cNvPr>
          <p:cNvSpPr txBox="1"/>
          <p:nvPr/>
        </p:nvSpPr>
        <p:spPr>
          <a:xfrm>
            <a:off x="7324797" y="1731896"/>
            <a:ext cx="4716462" cy="24519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ru-RU" dirty="0">
                <a:latin typeface="T-Sans" pitchFamily="2" charset="0"/>
                <a:ea typeface="T-Sans" pitchFamily="2" charset="0"/>
              </a:rPr>
              <a:t>возвращаемые значения идентичны при идентичных аргументах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dirty="0">
                <a:latin typeface="T-Sans" pitchFamily="2" charset="0"/>
                <a:ea typeface="T-Sans" pitchFamily="2" charset="0"/>
              </a:rPr>
              <a:t>отсутствие побочных эффектов при выполнении (не меняет внешние переменные)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D2DBDE-3D6E-4B3B-7166-E4F0190A6185}"/>
              </a:ext>
            </a:extLst>
          </p:cNvPr>
          <p:cNvSpPr txBox="1"/>
          <p:nvPr/>
        </p:nvSpPr>
        <p:spPr>
          <a:xfrm>
            <a:off x="7324797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Pure functions</a:t>
            </a:r>
            <a:endParaRPr lang="ru-RU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2FD507-AF5A-CB87-628E-55D1A2E8EADA}"/>
              </a:ext>
            </a:extLst>
          </p:cNvPr>
          <p:cNvSpPr txBox="1"/>
          <p:nvPr/>
        </p:nvSpPr>
        <p:spPr>
          <a:xfrm>
            <a:off x="611188" y="1085446"/>
            <a:ext cx="5809625" cy="11172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7200" b="1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sz="4400" b="0" dirty="0">
                <a:solidFill>
                  <a:srgbClr val="0A0A0A"/>
                </a:solidFill>
                <a:latin typeface="T-Sans"/>
              </a:rPr>
              <a:t>Чистый функциональный подход</a:t>
            </a:r>
            <a:endParaRPr lang="ru-RU" sz="44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235233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530F7A5D-F5D7-E6BD-747A-6D5284DA45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>
                <a:latin typeface="T-Sans" pitchFamily="2" charset="77"/>
                <a:ea typeface="T-Sans" pitchFamily="2" charset="77"/>
              </a:rPr>
              <a:pPr algn="r">
                <a:buFont typeface="Wingdings" pitchFamily="2" charset="2"/>
                <a:buNone/>
              </a:pPr>
              <a:t>5</a:t>
            </a:fld>
            <a:endParaRPr lang="ru-RU" dirty="0">
              <a:latin typeface="T-Sans" pitchFamily="2" charset="77"/>
              <a:ea typeface="T-Sans" pitchFamily="2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92D358-E8E5-63DF-1D61-218928D980C1}"/>
              </a:ext>
            </a:extLst>
          </p:cNvPr>
          <p:cNvSpPr txBox="1"/>
          <p:nvPr/>
        </p:nvSpPr>
        <p:spPr>
          <a:xfrm>
            <a:off x="1484382" y="3577931"/>
            <a:ext cx="4521708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Чистые функции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BE006AB-0641-8464-5FBF-F3353EAC0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3441208"/>
            <a:ext cx="612000" cy="612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0AD1F9E-7A8E-0D3B-E2C0-8AFEE77263AB}"/>
              </a:ext>
            </a:extLst>
          </p:cNvPr>
          <p:cNvSpPr txBox="1"/>
          <p:nvPr/>
        </p:nvSpPr>
        <p:spPr>
          <a:xfrm>
            <a:off x="611188" y="1321118"/>
            <a:ext cx="5650934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b="0" dirty="0" err="1">
                <a:latin typeface="T-Sans" pitchFamily="2" charset="77"/>
                <a:ea typeface="T-Sans" pitchFamily="2" charset="77"/>
              </a:rPr>
              <a:t>Javascript</a:t>
            </a:r>
            <a:endParaRPr lang="ru-RU" b="0" dirty="0">
              <a:latin typeface="T-Sans" pitchFamily="2" charset="77"/>
              <a:ea typeface="T-Sans" pitchFamily="2" charset="77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56AC23A-04C6-0CB7-4194-08E51495C828}"/>
              </a:ext>
            </a:extLst>
          </p:cNvPr>
          <p:cNvGrpSpPr/>
          <p:nvPr/>
        </p:nvGrpSpPr>
        <p:grpSpPr>
          <a:xfrm>
            <a:off x="7477170" y="1321119"/>
            <a:ext cx="11710942" cy="9302028"/>
            <a:chOff x="7477170" y="647700"/>
            <a:chExt cx="11448000" cy="9864725"/>
          </a:xfrm>
          <a:solidFill>
            <a:schemeClr val="tx1">
              <a:lumMod val="75000"/>
            </a:schemeClr>
          </a:solidFill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16DCC4B4-3EBC-8B3B-EA9A-30F82B9B5612}"/>
                </a:ext>
              </a:extLst>
            </p:cNvPr>
            <p:cNvSpPr/>
            <p:nvPr/>
          </p:nvSpPr>
          <p:spPr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50ABFB29-9A1D-4E9A-7806-2134A16A9F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2B004E8-4FC8-C030-6D79-CC671F3EFC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B31BB015-4971-4842-1ED0-CD88AC28F2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EE763C6C-231F-5639-A9C0-7BF198248EBC}"/>
                </a:ext>
              </a:extLst>
            </p:cNvPr>
            <p:cNvSpPr/>
            <p:nvPr/>
          </p:nvSpPr>
          <p:spPr>
            <a:xfrm>
              <a:off x="7621170" y="1245510"/>
              <a:ext cx="11160000" cy="9144000"/>
            </a:xfrm>
            <a:prstGeom prst="roundRect">
              <a:avLst>
                <a:gd name="adj" fmla="val 2168"/>
              </a:avLst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4D8480BA-7AD9-54AD-45F6-8824EB5E46B0}"/>
              </a:ext>
            </a:extLst>
          </p:cNvPr>
          <p:cNvSpPr txBox="1"/>
          <p:nvPr/>
        </p:nvSpPr>
        <p:spPr>
          <a:xfrm>
            <a:off x="1484382" y="4382107"/>
            <a:ext cx="4521708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Неизменяемость</a:t>
            </a:r>
          </a:p>
        </p:txBody>
      </p:sp>
      <p:pic>
        <p:nvPicPr>
          <p:cNvPr id="53" name="Рисунок 20">
            <a:extLst>
              <a:ext uri="{FF2B5EF4-FFF2-40B4-BE49-F238E27FC236}">
                <a16:creationId xmlns:a16="http://schemas.microsoft.com/office/drawing/2014/main" id="{9341772A-FBF2-5A18-0679-19F4C4C40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4270427"/>
            <a:ext cx="612000" cy="612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48808E-B874-5FAC-893C-348AF7E23B89}"/>
              </a:ext>
            </a:extLst>
          </p:cNvPr>
          <p:cNvSpPr txBox="1"/>
          <p:nvPr/>
        </p:nvSpPr>
        <p:spPr>
          <a:xfrm>
            <a:off x="1484382" y="5241508"/>
            <a:ext cx="4521708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Функции как объект первого порядка – можем хранить их в переменных или даже передавать друг другу</a:t>
            </a:r>
          </a:p>
        </p:txBody>
      </p:sp>
      <p:pic>
        <p:nvPicPr>
          <p:cNvPr id="7" name="Рисунок 20">
            <a:extLst>
              <a:ext uri="{FF2B5EF4-FFF2-40B4-BE49-F238E27FC236}">
                <a16:creationId xmlns:a16="http://schemas.microsoft.com/office/drawing/2014/main" id="{1597E7C7-8096-6C7C-D64D-1253085A0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5443339"/>
            <a:ext cx="612000" cy="612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97DA483-3B6F-3C7A-62B0-1AA257DFD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169" y="1512144"/>
            <a:ext cx="8475423" cy="8865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57175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01F23E-7C8E-FD76-E3A3-8CE5D4ABA14D}"/>
              </a:ext>
            </a:extLst>
          </p:cNvPr>
          <p:cNvSpPr txBox="1"/>
          <p:nvPr/>
        </p:nvSpPr>
        <p:spPr>
          <a:xfrm>
            <a:off x="2348971" y="5010676"/>
            <a:ext cx="8644611" cy="1138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8000" b="0" dirty="0">
                <a:solidFill>
                  <a:schemeClr val="tx1"/>
                </a:solidFill>
                <a:latin typeface="T-Sans" pitchFamily="2" charset="0"/>
                <a:ea typeface="T-Sans" pitchFamily="2" charset="0"/>
              </a:rPr>
              <a:t>А как же </a:t>
            </a:r>
            <a:r>
              <a:rPr lang="en-US" sz="8000" b="0" dirty="0">
                <a:solidFill>
                  <a:schemeClr val="tx1"/>
                </a:solidFill>
                <a:latin typeface="T-Sans" pitchFamily="2" charset="0"/>
                <a:ea typeface="T-Sans" pitchFamily="2" charset="0"/>
              </a:rPr>
              <a:t>Java?</a:t>
            </a:r>
            <a:endParaRPr lang="ru-RU" sz="8000" b="0" dirty="0">
              <a:solidFill>
                <a:schemeClr val="tx1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C4232E5-EA00-F2E8-6C17-43DA0D86DB4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6</a:t>
            </a:fld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8CFE7BB-7760-6667-B867-8C5C07566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900000">
            <a:off x="9539489" y="698702"/>
            <a:ext cx="9404604" cy="940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85906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530F7A5D-F5D7-E6BD-747A-6D5284DA45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>
                <a:latin typeface="T-Sans" pitchFamily="2" charset="77"/>
                <a:ea typeface="T-Sans" pitchFamily="2" charset="77"/>
              </a:rPr>
              <a:pPr algn="r">
                <a:buFont typeface="Wingdings" pitchFamily="2" charset="2"/>
                <a:buNone/>
              </a:pPr>
              <a:t>7</a:t>
            </a:fld>
            <a:endParaRPr lang="ru-RU" dirty="0">
              <a:latin typeface="T-Sans" pitchFamily="2" charset="77"/>
              <a:ea typeface="T-Sans" pitchFamily="2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92D358-E8E5-63DF-1D61-218928D980C1}"/>
              </a:ext>
            </a:extLst>
          </p:cNvPr>
          <p:cNvSpPr txBox="1"/>
          <p:nvPr/>
        </p:nvSpPr>
        <p:spPr>
          <a:xfrm>
            <a:off x="1484381" y="3577931"/>
            <a:ext cx="5405149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Чистые функции</a:t>
            </a:r>
            <a:r>
              <a:rPr lang="en-US" dirty="0">
                <a:latin typeface="T-Sans" pitchFamily="2" charset="77"/>
                <a:ea typeface="T-Sans" pitchFamily="2" charset="77"/>
              </a:rPr>
              <a:t> = </a:t>
            </a:r>
            <a:r>
              <a:rPr lang="ru-RU" dirty="0">
                <a:latin typeface="T-Sans" pitchFamily="2" charset="77"/>
                <a:ea typeface="T-Sans" pitchFamily="2" charset="77"/>
              </a:rPr>
              <a:t>если напишите сами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BE006AB-0641-8464-5FBF-F3353EAC0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3441208"/>
            <a:ext cx="612000" cy="612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0AD1F9E-7A8E-0D3B-E2C0-8AFEE77263AB}"/>
              </a:ext>
            </a:extLst>
          </p:cNvPr>
          <p:cNvSpPr txBox="1"/>
          <p:nvPr/>
        </p:nvSpPr>
        <p:spPr>
          <a:xfrm>
            <a:off x="611188" y="1321118"/>
            <a:ext cx="5650934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b="0" dirty="0">
                <a:latin typeface="T-Sans" pitchFamily="2" charset="77"/>
                <a:ea typeface="T-Sans" pitchFamily="2" charset="77"/>
              </a:rPr>
              <a:t>Java</a:t>
            </a:r>
            <a:endParaRPr lang="ru-RU" b="0" dirty="0">
              <a:latin typeface="T-Sans" pitchFamily="2" charset="77"/>
              <a:ea typeface="T-Sans" pitchFamily="2" charset="77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56AC23A-04C6-0CB7-4194-08E51495C828}"/>
              </a:ext>
            </a:extLst>
          </p:cNvPr>
          <p:cNvGrpSpPr/>
          <p:nvPr/>
        </p:nvGrpSpPr>
        <p:grpSpPr>
          <a:xfrm>
            <a:off x="7477170" y="1321119"/>
            <a:ext cx="11710942" cy="7460274"/>
            <a:chOff x="7477170" y="647700"/>
            <a:chExt cx="11448000" cy="7911560"/>
          </a:xfrm>
          <a:solidFill>
            <a:schemeClr val="tx1">
              <a:lumMod val="75000"/>
            </a:schemeClr>
          </a:solidFill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16DCC4B4-3EBC-8B3B-EA9A-30F82B9B5612}"/>
                </a:ext>
              </a:extLst>
            </p:cNvPr>
            <p:cNvSpPr/>
            <p:nvPr/>
          </p:nvSpPr>
          <p:spPr>
            <a:xfrm>
              <a:off x="7477170" y="647700"/>
              <a:ext cx="11448000" cy="7911560"/>
            </a:xfrm>
            <a:prstGeom prst="roundRect">
              <a:avLst>
                <a:gd name="adj" fmla="val 2808"/>
              </a:avLst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50ABFB29-9A1D-4E9A-7806-2134A16A9F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2B004E8-4FC8-C030-6D79-CC671F3EFC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B31BB015-4971-4842-1ED0-CD88AC28F2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EE763C6C-231F-5639-A9C0-7BF198248EBC}"/>
                </a:ext>
              </a:extLst>
            </p:cNvPr>
            <p:cNvSpPr/>
            <p:nvPr/>
          </p:nvSpPr>
          <p:spPr>
            <a:xfrm>
              <a:off x="7621170" y="1245510"/>
              <a:ext cx="11160000" cy="7107367"/>
            </a:xfrm>
            <a:prstGeom prst="roundRect">
              <a:avLst>
                <a:gd name="adj" fmla="val 2168"/>
              </a:avLst>
            </a:prstGeom>
            <a:grpFill/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4D8480BA-7AD9-54AD-45F6-8824EB5E46B0}"/>
              </a:ext>
            </a:extLst>
          </p:cNvPr>
          <p:cNvSpPr txBox="1"/>
          <p:nvPr/>
        </p:nvSpPr>
        <p:spPr>
          <a:xfrm>
            <a:off x="1484381" y="4382107"/>
            <a:ext cx="5137135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Неизменяемость = если напишите сами</a:t>
            </a:r>
          </a:p>
        </p:txBody>
      </p:sp>
      <p:pic>
        <p:nvPicPr>
          <p:cNvPr id="53" name="Рисунок 20">
            <a:extLst>
              <a:ext uri="{FF2B5EF4-FFF2-40B4-BE49-F238E27FC236}">
                <a16:creationId xmlns:a16="http://schemas.microsoft.com/office/drawing/2014/main" id="{9341772A-FBF2-5A18-0679-19F4C4C40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4270427"/>
            <a:ext cx="612000" cy="612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48808E-B874-5FAC-893C-348AF7E23B89}"/>
              </a:ext>
            </a:extLst>
          </p:cNvPr>
          <p:cNvSpPr txBox="1"/>
          <p:nvPr/>
        </p:nvSpPr>
        <p:spPr>
          <a:xfrm>
            <a:off x="1484382" y="5241508"/>
            <a:ext cx="4521708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Функции как объект первого порядка = на самом деле просто экземпляры интерфейсов</a:t>
            </a:r>
          </a:p>
        </p:txBody>
      </p:sp>
      <p:pic>
        <p:nvPicPr>
          <p:cNvPr id="7" name="Рисунок 20">
            <a:extLst>
              <a:ext uri="{FF2B5EF4-FFF2-40B4-BE49-F238E27FC236}">
                <a16:creationId xmlns:a16="http://schemas.microsoft.com/office/drawing/2014/main" id="{1597E7C7-8096-6C7C-D64D-1253085A0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5443339"/>
            <a:ext cx="612000" cy="612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AD27FC-7209-12C6-D964-B6F660A9B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9664" y="1489115"/>
            <a:ext cx="11442762" cy="692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30042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олилиния 17">
            <a:extLst>
              <a:ext uri="{FF2B5EF4-FFF2-40B4-BE49-F238E27FC236}">
                <a16:creationId xmlns:a16="http://schemas.microsoft.com/office/drawing/2014/main" id="{B0E2CD71-4130-BA89-8E8B-95B11390B2CF}"/>
              </a:ext>
            </a:extLst>
          </p:cNvPr>
          <p:cNvSpPr/>
          <p:nvPr/>
        </p:nvSpPr>
        <p:spPr>
          <a:xfrm flipH="1">
            <a:off x="9971088" y="395288"/>
            <a:ext cx="9432000" cy="10366619"/>
          </a:xfrm>
          <a:custGeom>
            <a:avLst/>
            <a:gdLst>
              <a:gd name="connsiteX0" fmla="*/ 9012665 w 9432000"/>
              <a:gd name="connsiteY0" fmla="*/ 0 h 10366619"/>
              <a:gd name="connsiteX1" fmla="*/ 419336 w 9432000"/>
              <a:gd name="connsiteY1" fmla="*/ 0 h 10366619"/>
              <a:gd name="connsiteX2" fmla="*/ 0 w 9432000"/>
              <a:gd name="connsiteY2" fmla="*/ 419334 h 10366619"/>
              <a:gd name="connsiteX3" fmla="*/ 0 w 9432000"/>
              <a:gd name="connsiteY3" fmla="*/ 3274342 h 10366619"/>
              <a:gd name="connsiteX4" fmla="*/ 0 w 9432000"/>
              <a:gd name="connsiteY4" fmla="*/ 3469156 h 10366619"/>
              <a:gd name="connsiteX5" fmla="*/ 0 w 9432000"/>
              <a:gd name="connsiteY5" fmla="*/ 6897463 h 10366619"/>
              <a:gd name="connsiteX6" fmla="*/ 0 w 9432000"/>
              <a:gd name="connsiteY6" fmla="*/ 7295686 h 10366619"/>
              <a:gd name="connsiteX7" fmla="*/ 0 w 9432000"/>
              <a:gd name="connsiteY7" fmla="*/ 9947284 h 10366619"/>
              <a:gd name="connsiteX8" fmla="*/ 419336 w 9432000"/>
              <a:gd name="connsiteY8" fmla="*/ 10366619 h 10366619"/>
              <a:gd name="connsiteX9" fmla="*/ 9012665 w 9432000"/>
              <a:gd name="connsiteY9" fmla="*/ 10366619 h 10366619"/>
              <a:gd name="connsiteX10" fmla="*/ 9432000 w 9432000"/>
              <a:gd name="connsiteY10" fmla="*/ 9947284 h 10366619"/>
              <a:gd name="connsiteX11" fmla="*/ 9432000 w 9432000"/>
              <a:gd name="connsiteY11" fmla="*/ 6897463 h 10366619"/>
              <a:gd name="connsiteX12" fmla="*/ 9424152 w 9432000"/>
              <a:gd name="connsiteY12" fmla="*/ 6819614 h 10366619"/>
              <a:gd name="connsiteX13" fmla="*/ 9424152 w 9432000"/>
              <a:gd name="connsiteY13" fmla="*/ 6790862 h 10366619"/>
              <a:gd name="connsiteX14" fmla="*/ 8881916 w 9432000"/>
              <a:gd name="connsiteY14" fmla="*/ 5772324 h 10366619"/>
              <a:gd name="connsiteX15" fmla="*/ 8680506 w 9432000"/>
              <a:gd name="connsiteY15" fmla="*/ 5176312 h 10366619"/>
              <a:gd name="connsiteX16" fmla="*/ 8881916 w 9432000"/>
              <a:gd name="connsiteY16" fmla="*/ 4580301 h 10366619"/>
              <a:gd name="connsiteX17" fmla="*/ 9424153 w 9432000"/>
              <a:gd name="connsiteY17" fmla="*/ 3561765 h 10366619"/>
              <a:gd name="connsiteX18" fmla="*/ 9424153 w 9432000"/>
              <a:gd name="connsiteY18" fmla="*/ 3546995 h 10366619"/>
              <a:gd name="connsiteX19" fmla="*/ 9432000 w 9432000"/>
              <a:gd name="connsiteY19" fmla="*/ 3469156 h 10366619"/>
              <a:gd name="connsiteX20" fmla="*/ 9432000 w 9432000"/>
              <a:gd name="connsiteY20" fmla="*/ 419334 h 10366619"/>
              <a:gd name="connsiteX21" fmla="*/ 9012665 w 9432000"/>
              <a:gd name="connsiteY21" fmla="*/ 0 h 10366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9432000" h="10366619">
                <a:moveTo>
                  <a:pt x="9012665" y="0"/>
                </a:moveTo>
                <a:lnTo>
                  <a:pt x="419336" y="0"/>
                </a:lnTo>
                <a:cubicBezTo>
                  <a:pt x="187744" y="0"/>
                  <a:pt x="0" y="187742"/>
                  <a:pt x="0" y="419334"/>
                </a:cubicBezTo>
                <a:lnTo>
                  <a:pt x="0" y="3274342"/>
                </a:lnTo>
                <a:lnTo>
                  <a:pt x="0" y="3469156"/>
                </a:lnTo>
                <a:lnTo>
                  <a:pt x="0" y="6897463"/>
                </a:lnTo>
                <a:lnTo>
                  <a:pt x="0" y="7295686"/>
                </a:lnTo>
                <a:lnTo>
                  <a:pt x="0" y="9947284"/>
                </a:lnTo>
                <a:cubicBezTo>
                  <a:pt x="0" y="10178876"/>
                  <a:pt x="187744" y="10366619"/>
                  <a:pt x="419336" y="10366619"/>
                </a:cubicBezTo>
                <a:lnTo>
                  <a:pt x="9012665" y="10366619"/>
                </a:lnTo>
                <a:cubicBezTo>
                  <a:pt x="9244257" y="10366619"/>
                  <a:pt x="9432000" y="10178876"/>
                  <a:pt x="9432000" y="9947284"/>
                </a:cubicBezTo>
                <a:lnTo>
                  <a:pt x="9432000" y="6897463"/>
                </a:lnTo>
                <a:lnTo>
                  <a:pt x="9424152" y="6819614"/>
                </a:lnTo>
                <a:lnTo>
                  <a:pt x="9424152" y="6790862"/>
                </a:lnTo>
                <a:cubicBezTo>
                  <a:pt x="9424152" y="6402009"/>
                  <a:pt x="9118007" y="6081093"/>
                  <a:pt x="8881916" y="5772324"/>
                </a:cubicBezTo>
                <a:cubicBezTo>
                  <a:pt x="8755581" y="5607095"/>
                  <a:pt x="8680506" y="5400477"/>
                  <a:pt x="8680506" y="5176312"/>
                </a:cubicBezTo>
                <a:cubicBezTo>
                  <a:pt x="8680506" y="4952149"/>
                  <a:pt x="8755581" y="4745530"/>
                  <a:pt x="8881916" y="4580301"/>
                </a:cubicBezTo>
                <a:cubicBezTo>
                  <a:pt x="9118007" y="4271533"/>
                  <a:pt x="9424153" y="3950617"/>
                  <a:pt x="9424153" y="3561765"/>
                </a:cubicBezTo>
                <a:lnTo>
                  <a:pt x="9424153" y="3546995"/>
                </a:lnTo>
                <a:lnTo>
                  <a:pt x="9432000" y="3469156"/>
                </a:lnTo>
                <a:lnTo>
                  <a:pt x="9432000" y="419334"/>
                </a:lnTo>
                <a:cubicBezTo>
                  <a:pt x="9432000" y="187742"/>
                  <a:pt x="9244257" y="0"/>
                  <a:pt x="9012665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5715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1" name="Полилиния 20">
            <a:extLst>
              <a:ext uri="{FF2B5EF4-FFF2-40B4-BE49-F238E27FC236}">
                <a16:creationId xmlns:a16="http://schemas.microsoft.com/office/drawing/2014/main" id="{F80713D8-4ECA-1480-75B3-5BC605500275}"/>
              </a:ext>
            </a:extLst>
          </p:cNvPr>
          <p:cNvSpPr/>
          <p:nvPr/>
        </p:nvSpPr>
        <p:spPr>
          <a:xfrm>
            <a:off x="396212" y="396752"/>
            <a:ext cx="9432000" cy="10366619"/>
          </a:xfrm>
          <a:custGeom>
            <a:avLst/>
            <a:gdLst>
              <a:gd name="connsiteX0" fmla="*/ 9012665 w 9432000"/>
              <a:gd name="connsiteY0" fmla="*/ 0 h 10366619"/>
              <a:gd name="connsiteX1" fmla="*/ 419336 w 9432000"/>
              <a:gd name="connsiteY1" fmla="*/ 0 h 10366619"/>
              <a:gd name="connsiteX2" fmla="*/ 0 w 9432000"/>
              <a:gd name="connsiteY2" fmla="*/ 419334 h 10366619"/>
              <a:gd name="connsiteX3" fmla="*/ 0 w 9432000"/>
              <a:gd name="connsiteY3" fmla="*/ 3274342 h 10366619"/>
              <a:gd name="connsiteX4" fmla="*/ 0 w 9432000"/>
              <a:gd name="connsiteY4" fmla="*/ 3469156 h 10366619"/>
              <a:gd name="connsiteX5" fmla="*/ 0 w 9432000"/>
              <a:gd name="connsiteY5" fmla="*/ 6897463 h 10366619"/>
              <a:gd name="connsiteX6" fmla="*/ 0 w 9432000"/>
              <a:gd name="connsiteY6" fmla="*/ 7295686 h 10366619"/>
              <a:gd name="connsiteX7" fmla="*/ 0 w 9432000"/>
              <a:gd name="connsiteY7" fmla="*/ 9947284 h 10366619"/>
              <a:gd name="connsiteX8" fmla="*/ 419336 w 9432000"/>
              <a:gd name="connsiteY8" fmla="*/ 10366619 h 10366619"/>
              <a:gd name="connsiteX9" fmla="*/ 9012665 w 9432000"/>
              <a:gd name="connsiteY9" fmla="*/ 10366619 h 10366619"/>
              <a:gd name="connsiteX10" fmla="*/ 9432000 w 9432000"/>
              <a:gd name="connsiteY10" fmla="*/ 9947284 h 10366619"/>
              <a:gd name="connsiteX11" fmla="*/ 9432000 w 9432000"/>
              <a:gd name="connsiteY11" fmla="*/ 6897463 h 10366619"/>
              <a:gd name="connsiteX12" fmla="*/ 9424152 w 9432000"/>
              <a:gd name="connsiteY12" fmla="*/ 6819614 h 10366619"/>
              <a:gd name="connsiteX13" fmla="*/ 9424152 w 9432000"/>
              <a:gd name="connsiteY13" fmla="*/ 6790862 h 10366619"/>
              <a:gd name="connsiteX14" fmla="*/ 8881916 w 9432000"/>
              <a:gd name="connsiteY14" fmla="*/ 5772324 h 10366619"/>
              <a:gd name="connsiteX15" fmla="*/ 8680506 w 9432000"/>
              <a:gd name="connsiteY15" fmla="*/ 5176312 h 10366619"/>
              <a:gd name="connsiteX16" fmla="*/ 8881916 w 9432000"/>
              <a:gd name="connsiteY16" fmla="*/ 4580301 h 10366619"/>
              <a:gd name="connsiteX17" fmla="*/ 9424153 w 9432000"/>
              <a:gd name="connsiteY17" fmla="*/ 3561765 h 10366619"/>
              <a:gd name="connsiteX18" fmla="*/ 9424153 w 9432000"/>
              <a:gd name="connsiteY18" fmla="*/ 3546995 h 10366619"/>
              <a:gd name="connsiteX19" fmla="*/ 9432000 w 9432000"/>
              <a:gd name="connsiteY19" fmla="*/ 3469156 h 10366619"/>
              <a:gd name="connsiteX20" fmla="*/ 9432000 w 9432000"/>
              <a:gd name="connsiteY20" fmla="*/ 419334 h 10366619"/>
              <a:gd name="connsiteX21" fmla="*/ 9012665 w 9432000"/>
              <a:gd name="connsiteY21" fmla="*/ 0 h 10366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9432000" h="10366619">
                <a:moveTo>
                  <a:pt x="9012665" y="0"/>
                </a:moveTo>
                <a:lnTo>
                  <a:pt x="419336" y="0"/>
                </a:lnTo>
                <a:cubicBezTo>
                  <a:pt x="187744" y="0"/>
                  <a:pt x="0" y="187742"/>
                  <a:pt x="0" y="419334"/>
                </a:cubicBezTo>
                <a:lnTo>
                  <a:pt x="0" y="3274342"/>
                </a:lnTo>
                <a:lnTo>
                  <a:pt x="0" y="3469156"/>
                </a:lnTo>
                <a:lnTo>
                  <a:pt x="0" y="6897463"/>
                </a:lnTo>
                <a:lnTo>
                  <a:pt x="0" y="7295686"/>
                </a:lnTo>
                <a:lnTo>
                  <a:pt x="0" y="9947284"/>
                </a:lnTo>
                <a:cubicBezTo>
                  <a:pt x="0" y="10178876"/>
                  <a:pt x="187744" y="10366619"/>
                  <a:pt x="419336" y="10366619"/>
                </a:cubicBezTo>
                <a:lnTo>
                  <a:pt x="9012665" y="10366619"/>
                </a:lnTo>
                <a:cubicBezTo>
                  <a:pt x="9244257" y="10366619"/>
                  <a:pt x="9432000" y="10178876"/>
                  <a:pt x="9432000" y="9947284"/>
                </a:cubicBezTo>
                <a:lnTo>
                  <a:pt x="9432000" y="6897463"/>
                </a:lnTo>
                <a:lnTo>
                  <a:pt x="9424152" y="6819614"/>
                </a:lnTo>
                <a:lnTo>
                  <a:pt x="9424152" y="6790862"/>
                </a:lnTo>
                <a:cubicBezTo>
                  <a:pt x="9424152" y="6402009"/>
                  <a:pt x="9118007" y="6081093"/>
                  <a:pt x="8881916" y="5772324"/>
                </a:cubicBezTo>
                <a:cubicBezTo>
                  <a:pt x="8755581" y="5607095"/>
                  <a:pt x="8680506" y="5400477"/>
                  <a:pt x="8680506" y="5176312"/>
                </a:cubicBezTo>
                <a:cubicBezTo>
                  <a:pt x="8680506" y="4952149"/>
                  <a:pt x="8755581" y="4745530"/>
                  <a:pt x="8881916" y="4580301"/>
                </a:cubicBezTo>
                <a:cubicBezTo>
                  <a:pt x="9118007" y="4271533"/>
                  <a:pt x="9424153" y="3950617"/>
                  <a:pt x="9424153" y="3561765"/>
                </a:cubicBezTo>
                <a:lnTo>
                  <a:pt x="9424153" y="3546995"/>
                </a:lnTo>
                <a:lnTo>
                  <a:pt x="9432000" y="3469156"/>
                </a:lnTo>
                <a:lnTo>
                  <a:pt x="9432000" y="419334"/>
                </a:lnTo>
                <a:cubicBezTo>
                  <a:pt x="9432000" y="187742"/>
                  <a:pt x="9244257" y="0"/>
                  <a:pt x="9012665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A4DBBC05-A6EA-8ADC-B115-2E6D4DEF9E44}"/>
              </a:ext>
            </a:extLst>
          </p:cNvPr>
          <p:cNvGrpSpPr/>
          <p:nvPr/>
        </p:nvGrpSpPr>
        <p:grpSpPr>
          <a:xfrm>
            <a:off x="9232860" y="4913271"/>
            <a:ext cx="1333581" cy="1333581"/>
            <a:chOff x="8084123" y="4913271"/>
            <a:chExt cx="1333581" cy="1333581"/>
          </a:xfrm>
        </p:grpSpPr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54321441-1039-1AB2-7F43-2A0C0A942D5D}"/>
                </a:ext>
              </a:extLst>
            </p:cNvPr>
            <p:cNvSpPr/>
            <p:nvPr/>
          </p:nvSpPr>
          <p:spPr>
            <a:xfrm>
              <a:off x="8084123" y="4913271"/>
              <a:ext cx="1333581" cy="1333581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prstDash val="solid"/>
              <a:miter lim="800000"/>
            </a:ln>
            <a:effectLst>
              <a:innerShdw blurRad="317009">
                <a:schemeClr val="accent6"/>
              </a:inn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95F9B4C-BD4A-AC0C-A1D4-E63DB6602DA4}"/>
                </a:ext>
              </a:extLst>
            </p:cNvPr>
            <p:cNvSpPr txBox="1"/>
            <p:nvPr/>
          </p:nvSpPr>
          <p:spPr>
            <a:xfrm>
              <a:off x="8314660" y="5249201"/>
              <a:ext cx="872508" cy="6617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 anchor="t">
              <a:spAutoFit/>
            </a:bodyPr>
            <a:lstStyle>
              <a:defPPr marL="0" marR="0" indent="0" algn="l" defTabSz="90006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73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>
                <a:lnSpc>
                  <a:spcPts val="3800"/>
                </a:lnSpc>
                <a:defRPr sz="3200">
                  <a:solidFill>
                    <a:schemeClr val="accent2"/>
                  </a:solidFill>
                  <a:latin typeface="TINKOFFSANS-MEDIUM" panose="02000506050000020004" pitchFamily="2" charset="0"/>
                </a:defRPr>
              </a:lvl1pPr>
            </a:lstStyle>
            <a:p>
              <a:pPr algn="ctr">
                <a:lnSpc>
                  <a:spcPct val="110000"/>
                </a:lnSpc>
              </a:pPr>
              <a:r>
                <a:rPr lang="ru-RU" sz="4000" dirty="0">
                  <a:latin typeface="T-Sans" pitchFamily="2" charset="0"/>
                  <a:ea typeface="T-Sans" pitchFamily="2" charset="0"/>
                </a:rPr>
                <a:t>V</a:t>
              </a:r>
              <a:r>
                <a:rPr lang="en-US" sz="4000" dirty="0">
                  <a:latin typeface="T-Sans" pitchFamily="2" charset="0"/>
                  <a:ea typeface="T-Sans" pitchFamily="2" charset="0"/>
                </a:rPr>
                <a:t>S</a:t>
              </a:r>
              <a:endParaRPr lang="ru-RU" sz="4000" dirty="0">
                <a:latin typeface="T-Sans" pitchFamily="2" charset="0"/>
                <a:ea typeface="T-Sans" pitchFamily="2" charset="0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838BC4C6-ACCD-7C6D-56E3-C082886AE388}"/>
              </a:ext>
            </a:extLst>
          </p:cNvPr>
          <p:cNvSpPr txBox="1"/>
          <p:nvPr/>
        </p:nvSpPr>
        <p:spPr>
          <a:xfrm>
            <a:off x="1150938" y="1120463"/>
            <a:ext cx="7232627" cy="10002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75000"/>
              </a:lnSpc>
              <a:defRPr sz="8000" b="1">
                <a:solidFill>
                  <a:schemeClr val="accent2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en-US" b="0" dirty="0"/>
              <a:t>Haskell </a:t>
            </a:r>
            <a:r>
              <a:rPr lang="en-US" sz="2400" b="0" dirty="0"/>
              <a:t>(</a:t>
            </a:r>
            <a:r>
              <a:rPr lang="ru-RU" sz="2400" b="0" dirty="0"/>
              <a:t>например)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36E644-698D-C262-B92A-7653B6E384AE}"/>
              </a:ext>
            </a:extLst>
          </p:cNvPr>
          <p:cNvSpPr txBox="1"/>
          <p:nvPr/>
        </p:nvSpPr>
        <p:spPr>
          <a:xfrm>
            <a:off x="10800024" y="9099731"/>
            <a:ext cx="8389275" cy="14126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ru-RU" dirty="0">
                <a:solidFill>
                  <a:schemeClr val="tx2">
                    <a:lumMod val="50000"/>
                  </a:schemeClr>
                </a:solidFill>
                <a:latin typeface="T-Sans" pitchFamily="2" charset="0"/>
                <a:ea typeface="T-Sans" pitchFamily="2" charset="0"/>
              </a:rPr>
              <a:t>ООП язык, в который добавлена имитация функционального подхода в ограниченном масштабе. Можно писать привычный код и использовать ФП по необходимости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662205-7F19-CD86-8CA8-B30443AC311C}"/>
              </a:ext>
            </a:extLst>
          </p:cNvPr>
          <p:cNvSpPr txBox="1"/>
          <p:nvPr/>
        </p:nvSpPr>
        <p:spPr>
          <a:xfrm>
            <a:off x="1150938" y="9099731"/>
            <a:ext cx="6780512" cy="14126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ru-RU" dirty="0">
                <a:latin typeface="T-Sans" pitchFamily="2" charset="0"/>
                <a:ea typeface="T-Sans" pitchFamily="2" charset="0"/>
              </a:rPr>
              <a:t>Строго функциональный язык программирования, к которому надо (с болью) привыкать и перестраивать само мышление для эффективной разработки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1185E0-D299-9F48-D9AF-1150280A60D3}"/>
              </a:ext>
            </a:extLst>
          </p:cNvPr>
          <p:cNvSpPr txBox="1"/>
          <p:nvPr/>
        </p:nvSpPr>
        <p:spPr>
          <a:xfrm>
            <a:off x="11070774" y="2212134"/>
            <a:ext cx="7232627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400" dirty="0">
                <a:latin typeface="T-Sans Medium" pitchFamily="2" charset="0"/>
                <a:ea typeface="T-Sans" pitchFamily="2" charset="0"/>
              </a:rPr>
              <a:t>ООП с имитацией функционального подхода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CD58F9-9940-8725-46CD-B16174E55B87}"/>
              </a:ext>
            </a:extLst>
          </p:cNvPr>
          <p:cNvSpPr txBox="1"/>
          <p:nvPr/>
        </p:nvSpPr>
        <p:spPr>
          <a:xfrm>
            <a:off x="10800024" y="1120463"/>
            <a:ext cx="8016486" cy="10002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75000"/>
              </a:lnSpc>
              <a:defRPr sz="8000" b="1">
                <a:solidFill>
                  <a:schemeClr val="accent2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en-US" b="0" dirty="0"/>
              <a:t>Java</a:t>
            </a:r>
            <a:endParaRPr lang="ru-RU" b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E5841F-F530-2AAC-3D45-271DBC84BFAC}"/>
              </a:ext>
            </a:extLst>
          </p:cNvPr>
          <p:cNvSpPr txBox="1"/>
          <p:nvPr/>
        </p:nvSpPr>
        <p:spPr>
          <a:xfrm>
            <a:off x="1844619" y="2212134"/>
            <a:ext cx="7232627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400" dirty="0">
                <a:latin typeface="T-Sans Medium" pitchFamily="2" charset="0"/>
                <a:ea typeface="T-Sans" pitchFamily="2" charset="0"/>
              </a:rPr>
              <a:t>Функциональный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77E542-C012-7BF8-0123-AEA4516C8407}"/>
              </a:ext>
            </a:extLst>
          </p:cNvPr>
          <p:cNvSpPr txBox="1"/>
          <p:nvPr/>
        </p:nvSpPr>
        <p:spPr>
          <a:xfrm>
            <a:off x="11070774" y="3180236"/>
            <a:ext cx="7232627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400" dirty="0">
                <a:latin typeface="T-Sans Medium" pitchFamily="2" charset="0"/>
                <a:ea typeface="T-Sans" pitchFamily="2" charset="0"/>
              </a:rPr>
              <a:t>Синтаксический сахар. Быстрая анонимная реализация функционального интерфейса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A4707F-99D6-9C15-C8C1-F306FC9CFD3E}"/>
              </a:ext>
            </a:extLst>
          </p:cNvPr>
          <p:cNvSpPr txBox="1"/>
          <p:nvPr/>
        </p:nvSpPr>
        <p:spPr>
          <a:xfrm>
            <a:off x="1844618" y="3198328"/>
            <a:ext cx="7232627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400" dirty="0">
                <a:latin typeface="T-Sans Medium" pitchFamily="2" charset="0"/>
                <a:ea typeface="T-Sans" pitchFamily="2" charset="0"/>
              </a:rPr>
              <a:t>Функция как объект первого порядка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C3DE43-4F02-2C14-D803-E20CD84552A3}"/>
              </a:ext>
            </a:extLst>
          </p:cNvPr>
          <p:cNvSpPr txBox="1"/>
          <p:nvPr/>
        </p:nvSpPr>
        <p:spPr>
          <a:xfrm>
            <a:off x="1844617" y="4184522"/>
            <a:ext cx="7232627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400" dirty="0">
                <a:latin typeface="T-Sans Medium" pitchFamily="2" charset="0"/>
                <a:ea typeface="T-Sans" pitchFamily="2" charset="0"/>
              </a:rPr>
              <a:t>Неизменяемость - гарантия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687513-4E92-7C91-2167-DA661CBA85DA}"/>
              </a:ext>
            </a:extLst>
          </p:cNvPr>
          <p:cNvSpPr txBox="1"/>
          <p:nvPr/>
        </p:nvSpPr>
        <p:spPr>
          <a:xfrm>
            <a:off x="11070772" y="4322509"/>
            <a:ext cx="7232627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400" dirty="0">
                <a:latin typeface="T-Sans Medium" pitchFamily="2" charset="0"/>
                <a:ea typeface="T-Sans" pitchFamily="2" charset="0"/>
              </a:rPr>
              <a:t>Неизменяемость – самодисциплина и принцип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AB7447-742A-8EA1-F97B-B8D885CEA388}"/>
              </a:ext>
            </a:extLst>
          </p:cNvPr>
          <p:cNvSpPr txBox="1"/>
          <p:nvPr/>
        </p:nvSpPr>
        <p:spPr>
          <a:xfrm>
            <a:off x="1844616" y="5170716"/>
            <a:ext cx="7232627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400" dirty="0">
                <a:latin typeface="T-Sans Medium" pitchFamily="2" charset="0"/>
                <a:ea typeface="T-Sans" pitchFamily="2" charset="0"/>
              </a:rPr>
              <a:t>Автоматическая типизация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6F4B45-7AC3-55E2-5564-708F443BD966}"/>
              </a:ext>
            </a:extLst>
          </p:cNvPr>
          <p:cNvSpPr txBox="1"/>
          <p:nvPr/>
        </p:nvSpPr>
        <p:spPr>
          <a:xfrm>
            <a:off x="11070772" y="5170716"/>
            <a:ext cx="7232627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400" dirty="0">
                <a:latin typeface="T-Sans Medium" pitchFamily="2" charset="0"/>
                <a:ea typeface="T-Sans" pitchFamily="2" charset="0"/>
              </a:rPr>
              <a:t>Строгая типизация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C6AB43A-3120-09EA-47F3-F38B1DA5F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838" y="6149067"/>
            <a:ext cx="3602727" cy="269971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95DFB72-1F2A-7CF8-02EE-6BF7E840F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0772" y="6149067"/>
            <a:ext cx="3257202" cy="270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60653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F9F53D-12DD-F728-FBAF-6F896C8C6E9F}"/>
              </a:ext>
            </a:extLst>
          </p:cNvPr>
          <p:cNvSpPr txBox="1"/>
          <p:nvPr/>
        </p:nvSpPr>
        <p:spPr>
          <a:xfrm>
            <a:off x="611188" y="556966"/>
            <a:ext cx="5879259" cy="15165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5400" b="0" dirty="0">
                <a:latin typeface="T-Sans" pitchFamily="2" charset="0"/>
                <a:ea typeface="T-Sans" pitchFamily="2" charset="0"/>
              </a:rPr>
              <a:t>Как было раньше</a:t>
            </a:r>
          </a:p>
          <a:p>
            <a:r>
              <a:rPr lang="ru-RU" sz="5400" b="0" dirty="0">
                <a:latin typeface="T-Sans" pitchFamily="2" charset="0"/>
                <a:ea typeface="T-Sans" pitchFamily="2" charset="0"/>
              </a:rPr>
              <a:t>И как сейчас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6BBC81-665B-182C-8A88-4B0F8FFA52A2}"/>
              </a:ext>
            </a:extLst>
          </p:cNvPr>
          <p:cNvSpPr txBox="1"/>
          <p:nvPr/>
        </p:nvSpPr>
        <p:spPr>
          <a:xfrm>
            <a:off x="611188" y="3743325"/>
            <a:ext cx="4716462" cy="40626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4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0"/>
                <a:ea typeface="T-Sans" pitchFamily="2" charset="0"/>
              </a:rPr>
              <a:t>До введения синтаксического сахара в </a:t>
            </a:r>
            <a:r>
              <a:rPr lang="en-US" dirty="0">
                <a:latin typeface="T-Sans" pitchFamily="2" charset="0"/>
                <a:ea typeface="T-Sans" pitchFamily="2" charset="0"/>
              </a:rPr>
              <a:t>Java 1.8 </a:t>
            </a:r>
            <a:r>
              <a:rPr lang="ru-RU" dirty="0">
                <a:latin typeface="T-Sans" pitchFamily="2" charset="0"/>
                <a:ea typeface="T-Sans" pitchFamily="2" charset="0"/>
              </a:rPr>
              <a:t>можно было использовать только ванильные средства ООП.</a:t>
            </a:r>
          </a:p>
          <a:p>
            <a:pPr>
              <a:lnSpc>
                <a:spcPct val="100000"/>
              </a:lnSpc>
            </a:pPr>
            <a:endParaRPr lang="ru-RU" dirty="0">
              <a:latin typeface="T-Sans" pitchFamily="2" charset="0"/>
              <a:ea typeface="T-Sans" pitchFamily="2" charset="0"/>
            </a:endParaRPr>
          </a:p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0"/>
                <a:ea typeface="T-Sans" pitchFamily="2" charset="0"/>
              </a:rPr>
              <a:t>Приходилось или писать полную имплементацию интерфейсов или же использовать анонимные классы (что было не сильно лучше)</a:t>
            </a:r>
          </a:p>
          <a:p>
            <a:pPr>
              <a:lnSpc>
                <a:spcPct val="100000"/>
              </a:lnSpc>
            </a:pPr>
            <a:endParaRPr lang="ru-RU" dirty="0">
              <a:latin typeface="T-Sans" pitchFamily="2" charset="0"/>
              <a:ea typeface="T-Sans" pitchFamily="2" charset="0"/>
            </a:endParaRPr>
          </a:p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0"/>
                <a:ea typeface="T-Sans" pitchFamily="2" charset="0"/>
              </a:rPr>
              <a:t>Посмотрим на примере нашего паттерна </a:t>
            </a:r>
            <a:r>
              <a:rPr lang="en-US" dirty="0">
                <a:latin typeface="T-Sans" pitchFamily="2" charset="0"/>
                <a:ea typeface="T-Sans" pitchFamily="2" charset="0"/>
              </a:rPr>
              <a:t>Strategy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3811FD-CFB6-AA9B-18BE-0A3E8DAAB793}"/>
              </a:ext>
            </a:extLst>
          </p:cNvPr>
          <p:cNvSpPr txBox="1"/>
          <p:nvPr/>
        </p:nvSpPr>
        <p:spPr>
          <a:xfrm>
            <a:off x="7165608" y="6328648"/>
            <a:ext cx="5040000" cy="15388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Приходится писать целую кучу лишнего!</a:t>
            </a:r>
          </a:p>
          <a:p>
            <a:pPr>
              <a:lnSpc>
                <a:spcPct val="100000"/>
              </a:lnSpc>
            </a:pPr>
            <a:endParaRPr lang="ru-RU" sz="2000" dirty="0">
              <a:solidFill>
                <a:schemeClr val="bg1"/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Мы ведь просто хотим проверить что </a:t>
            </a:r>
            <a:r>
              <a:rPr lang="en-US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currency </a:t>
            </a:r>
            <a:r>
              <a:rPr lang="ru-RU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инструмента равна переданной, зачем нам все эти лишние слова, методы, </a:t>
            </a:r>
            <a:r>
              <a:rPr lang="en-US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@Override </a:t>
            </a:r>
            <a:r>
              <a:rPr lang="ru-RU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и прочее? </a:t>
            </a:r>
            <a:endParaRPr lang="en-US" sz="2000" dirty="0">
              <a:solidFill>
                <a:schemeClr val="bg1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9345203A-FEDA-E10B-7BB8-6EE5751038A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9</a:t>
            </a:fld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E54BE0-375F-C558-497F-B2B95696D3B3}"/>
              </a:ext>
            </a:extLst>
          </p:cNvPr>
          <p:cNvSpPr txBox="1"/>
          <p:nvPr/>
        </p:nvSpPr>
        <p:spPr>
          <a:xfrm>
            <a:off x="7359460" y="1132518"/>
            <a:ext cx="5024628" cy="5039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3600" dirty="0">
                <a:latin typeface="T-Sans Medium" pitchFamily="2" charset="0"/>
                <a:ea typeface="T-Sans" pitchFamily="2" charset="0"/>
              </a:rPr>
              <a:t>Java &lt; 1.8</a:t>
            </a:r>
            <a:endParaRPr lang="ru-RU" sz="3600" dirty="0">
              <a:latin typeface="T-Sans Medium" pitchFamily="2" charset="0"/>
              <a:ea typeface="T-Sans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6BAA70-043A-64F3-C6D7-8E99ECA6F4EB}"/>
              </a:ext>
            </a:extLst>
          </p:cNvPr>
          <p:cNvSpPr txBox="1"/>
          <p:nvPr/>
        </p:nvSpPr>
        <p:spPr>
          <a:xfrm>
            <a:off x="13668820" y="1132518"/>
            <a:ext cx="5052568" cy="5039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3600" dirty="0">
                <a:solidFill>
                  <a:schemeClr val="bg1"/>
                </a:solidFill>
                <a:latin typeface="T-Sans Medium" pitchFamily="2" charset="0"/>
                <a:ea typeface="T-Sans" pitchFamily="2" charset="0"/>
              </a:rPr>
              <a:t>Java &gt; 1.8</a:t>
            </a:r>
            <a:endParaRPr lang="ru-RU" sz="3600" dirty="0">
              <a:solidFill>
                <a:schemeClr val="bg1"/>
              </a:solidFill>
              <a:latin typeface="T-Sans Medium" pitchFamily="2" charset="0"/>
              <a:ea typeface="T-Sans" pitchFamily="2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B83F970-B515-95A2-8732-8FA4A9E46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608" y="2662406"/>
            <a:ext cx="5443488" cy="340218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F5877F2-7D02-8A95-FA6C-96222F6B8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3588" y="2662405"/>
            <a:ext cx="5443488" cy="259025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506B83F-57AB-B50B-E88F-F3FEACC533E5}"/>
              </a:ext>
            </a:extLst>
          </p:cNvPr>
          <p:cNvSpPr txBox="1"/>
          <p:nvPr/>
        </p:nvSpPr>
        <p:spPr>
          <a:xfrm>
            <a:off x="13463588" y="6328648"/>
            <a:ext cx="5040000" cy="15388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Зачем нам писать лишние буквы, если нас волнует только «возьми </a:t>
            </a:r>
            <a:r>
              <a:rPr lang="en-US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currency </a:t>
            </a:r>
            <a:r>
              <a:rPr lang="ru-RU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с инструмента и проверь, что она совпадает</a:t>
            </a:r>
            <a:r>
              <a:rPr lang="en-US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с переданной. Верни </a:t>
            </a:r>
            <a:r>
              <a:rPr lang="en-US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true/false</a:t>
            </a:r>
            <a:r>
              <a:rPr lang="ru-RU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»</a:t>
            </a: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 </a:t>
            </a:r>
            <a:endParaRPr lang="en-US" sz="2000" dirty="0">
              <a:solidFill>
                <a:schemeClr val="bg1"/>
              </a:solidFill>
              <a:latin typeface="T-Sans" pitchFamily="2" charset="0"/>
              <a:ea typeface="T-Sans" pitchFamily="2" charset="0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E8B3354-C39C-994D-D93C-D8146CEF05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3775" y="8439250"/>
            <a:ext cx="2088983" cy="2006415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6C3C07F-99FF-056A-BA37-9275D3E74C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68820" y="8439249"/>
            <a:ext cx="2088983" cy="2006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70598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1E5570F8-9A9F-285E-4E03-BD9A6CF4F0B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10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4E705-425A-AD37-7C82-42FF7D07134B}"/>
              </a:ext>
            </a:extLst>
          </p:cNvPr>
          <p:cNvSpPr txBox="1"/>
          <p:nvPr/>
        </p:nvSpPr>
        <p:spPr>
          <a:xfrm>
            <a:off x="1366838" y="1366838"/>
            <a:ext cx="16653976" cy="10248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7200" b="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Generics</a:t>
            </a:r>
            <a:endParaRPr lang="ru-RU" sz="7200" b="0" dirty="0">
              <a:solidFill>
                <a:schemeClr val="accent6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C7B878-EA30-7CE0-B47F-9C6D305F1DA2}"/>
              </a:ext>
            </a:extLst>
          </p:cNvPr>
          <p:cNvSpPr txBox="1"/>
          <p:nvPr/>
        </p:nvSpPr>
        <p:spPr>
          <a:xfrm>
            <a:off x="1539705" y="2461128"/>
            <a:ext cx="14543323" cy="19666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&lt;T&gt;, &lt;? super T&gt;, &lt;K extends String, ?&gt; </a:t>
            </a:r>
            <a:r>
              <a:rPr lang="en" sz="3600" dirty="0" err="1">
                <a:latin typeface="T-Sans" pitchFamily="2" charset="0"/>
                <a:ea typeface="T-Sans" pitchFamily="2" charset="0"/>
              </a:rPr>
              <a:t>BiConsumer</a:t>
            </a:r>
            <a:r>
              <a:rPr lang="en" sz="3600" dirty="0">
                <a:latin typeface="T-Sans" pitchFamily="2" charset="0"/>
                <a:ea typeface="T-Sans" pitchFamily="2" charset="0"/>
              </a:rPr>
              <a:t>&lt;</a:t>
            </a:r>
            <a:r>
              <a:rPr lang="en-US" sz="3600" dirty="0">
                <a:latin typeface="T-Sans" pitchFamily="2" charset="0"/>
                <a:ea typeface="T-Sans" pitchFamily="2" charset="0"/>
              </a:rPr>
              <a:t>X</a:t>
            </a:r>
            <a:r>
              <a:rPr lang="en" sz="3600" dirty="0">
                <a:latin typeface="T-Sans" pitchFamily="2" charset="0"/>
                <a:ea typeface="T-Sans" pitchFamily="2" charset="0"/>
              </a:rPr>
              <a:t>, ? super Throwable&gt;</a:t>
            </a:r>
          </a:p>
          <a:p>
            <a:pPr>
              <a:lnSpc>
                <a:spcPct val="120000"/>
              </a:lnSpc>
            </a:pPr>
            <a:r>
              <a:rPr lang="ru-RU" sz="3600" dirty="0">
                <a:latin typeface="T-Sans" pitchFamily="2" charset="0"/>
                <a:ea typeface="T-Sans" pitchFamily="2" charset="0"/>
              </a:rPr>
              <a:t>Что это вообще такое?</a:t>
            </a:r>
            <a:endParaRPr lang="en" sz="3600" dirty="0">
              <a:latin typeface="T-Sans" pitchFamily="2" charset="0"/>
              <a:ea typeface="T-Sans" pitchFamily="2" charset="0"/>
            </a:endParaRPr>
          </a:p>
          <a:p>
            <a:pPr>
              <a:lnSpc>
                <a:spcPct val="120000"/>
              </a:lnSpc>
            </a:pPr>
            <a:endParaRPr lang="ru-RU" sz="3600" dirty="0">
              <a:solidFill>
                <a:schemeClr val="accent6"/>
              </a:solidFill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1637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530F7A5D-F5D7-E6BD-747A-6D5284DA45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11</a:t>
            </a:fld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92D358-E8E5-63DF-1D61-218928D980C1}"/>
              </a:ext>
            </a:extLst>
          </p:cNvPr>
          <p:cNvSpPr txBox="1"/>
          <p:nvPr/>
        </p:nvSpPr>
        <p:spPr>
          <a:xfrm>
            <a:off x="622608" y="2316585"/>
            <a:ext cx="4521708" cy="7956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 err="1">
                <a:latin typeface="T-Sans" pitchFamily="2" charset="0"/>
                <a:ea typeface="T-Sans" pitchFamily="2" charset="0"/>
              </a:rPr>
              <a:t>Генерики</a:t>
            </a:r>
            <a:r>
              <a:rPr lang="ru-RU" dirty="0">
                <a:latin typeface="T-Sans" pitchFamily="2" charset="0"/>
                <a:ea typeface="T-Sans" pitchFamily="2" charset="0"/>
              </a:rPr>
              <a:t> это 3-й тип полиморфизма</a:t>
            </a:r>
            <a:br>
              <a:rPr lang="ru-RU" dirty="0">
                <a:latin typeface="T-Sans" pitchFamily="2" charset="0"/>
                <a:ea typeface="T-Sans" pitchFamily="2" charset="0"/>
              </a:rPr>
            </a:br>
            <a:r>
              <a:rPr lang="ru-RU" dirty="0">
                <a:latin typeface="T-Sans" pitchFamily="2" charset="0"/>
                <a:ea typeface="T-Sans" pitchFamily="2" charset="0"/>
              </a:rPr>
              <a:t>(вспоминаем семинар </a:t>
            </a:r>
            <a:r>
              <a:rPr lang="en-US" dirty="0">
                <a:latin typeface="T-Sans" pitchFamily="2" charset="0"/>
                <a:ea typeface="T-Sans" pitchFamily="2" charset="0"/>
              </a:rPr>
              <a:t>#1)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AD1F9E-7A8E-0D3B-E2C0-8AFEE77263AB}"/>
              </a:ext>
            </a:extLst>
          </p:cNvPr>
          <p:cNvSpPr txBox="1"/>
          <p:nvPr/>
        </p:nvSpPr>
        <p:spPr>
          <a:xfrm>
            <a:off x="611188" y="1321118"/>
            <a:ext cx="6587280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b="0" dirty="0">
                <a:latin typeface="T-Sans" pitchFamily="2" charset="0"/>
                <a:ea typeface="T-Sans" pitchFamily="2" charset="0"/>
              </a:rPr>
              <a:t>Generics </a:t>
            </a:r>
            <a:r>
              <a:rPr lang="ru-RU" b="0" dirty="0">
                <a:latin typeface="T-Sans" pitchFamily="2" charset="0"/>
                <a:ea typeface="T-Sans" pitchFamily="2" charset="0"/>
              </a:rPr>
              <a:t>в </a:t>
            </a:r>
            <a:r>
              <a:rPr lang="en-US" b="0" dirty="0">
                <a:latin typeface="T-Sans" pitchFamily="2" charset="0"/>
                <a:ea typeface="T-Sans" pitchFamily="2" charset="0"/>
              </a:rPr>
              <a:t>Java</a:t>
            </a:r>
            <a:endParaRPr lang="ru-RU" b="0" dirty="0">
              <a:latin typeface="T-Sans" pitchFamily="2" charset="0"/>
              <a:ea typeface="T-Sans" pitchFamily="2" charset="0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56AC23A-04C6-0CB7-4194-08E51495C828}"/>
              </a:ext>
            </a:extLst>
          </p:cNvPr>
          <p:cNvGrpSpPr/>
          <p:nvPr/>
        </p:nvGrpSpPr>
        <p:grpSpPr>
          <a:xfrm>
            <a:off x="7477170" y="647700"/>
            <a:ext cx="11448000" cy="9864725"/>
            <a:chOff x="7477170" y="647700"/>
            <a:chExt cx="11448000" cy="9864725"/>
          </a:xfrm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16DCC4B4-3EBC-8B3B-EA9A-30F82B9B5612}"/>
                </a:ext>
              </a:extLst>
            </p:cNvPr>
            <p:cNvSpPr/>
            <p:nvPr/>
          </p:nvSpPr>
          <p:spPr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50ABFB29-9A1D-4E9A-7806-2134A16A9F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2B004E8-4FC8-C030-6D79-CC671F3EFC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B31BB015-4971-4842-1ED0-CD88AC28F2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endParaRPr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EE763C6C-231F-5639-A9C0-7BF198248EBC}"/>
                </a:ext>
              </a:extLst>
            </p:cNvPr>
            <p:cNvSpPr/>
            <p:nvPr/>
          </p:nvSpPr>
          <p:spPr>
            <a:xfrm>
              <a:off x="7621170" y="1245510"/>
              <a:ext cx="11160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C8338FD-B28D-970C-526D-ECD655EB2F33}"/>
              </a:ext>
            </a:extLst>
          </p:cNvPr>
          <p:cNvSpPr txBox="1"/>
          <p:nvPr/>
        </p:nvSpPr>
        <p:spPr>
          <a:xfrm>
            <a:off x="622608" y="3403421"/>
            <a:ext cx="6575860" cy="16081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Общая задумка – пишем универсальный код для какого то типа данных, а затем подставляем его. </a:t>
            </a: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Например написали список для какого то Т, а затем уточнили, что это будет например </a:t>
            </a:r>
            <a:r>
              <a:rPr lang="en-US" dirty="0">
                <a:latin typeface="T-Sans" pitchFamily="2" charset="0"/>
                <a:ea typeface="T-Sans" pitchFamily="2" charset="0"/>
              </a:rPr>
              <a:t>String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040C2-9BB4-6EB1-6B73-8D49686ACD09}"/>
              </a:ext>
            </a:extLst>
          </p:cNvPr>
          <p:cNvSpPr txBox="1"/>
          <p:nvPr/>
        </p:nvSpPr>
        <p:spPr>
          <a:xfrm>
            <a:off x="757310" y="5626584"/>
            <a:ext cx="6575860" cy="40457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Плюсы +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T-Sans" pitchFamily="2" charset="0"/>
                <a:ea typeface="T-Sans" pitchFamily="2" charset="0"/>
              </a:rPr>
              <a:t>Меньше кода! Нам не надо писать одно и то же под разные типы вручную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 err="1">
                <a:latin typeface="T-Sans" pitchFamily="2" charset="0"/>
                <a:ea typeface="T-Sans" pitchFamily="2" charset="0"/>
              </a:rPr>
              <a:t>Типобезопасность</a:t>
            </a:r>
            <a:r>
              <a:rPr lang="ru-RU" dirty="0">
                <a:latin typeface="T-Sans" pitchFamily="2" charset="0"/>
                <a:ea typeface="T-Sans" pitchFamily="2" charset="0"/>
              </a:rPr>
              <a:t> на этапе компиляции</a:t>
            </a:r>
          </a:p>
          <a:p>
            <a:endParaRPr lang="ru-RU" dirty="0">
              <a:latin typeface="T-Sans" pitchFamily="2" charset="0"/>
              <a:ea typeface="T-Sans" pitchFamily="2" charset="0"/>
            </a:endParaRP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Минусы –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T-Sans" pitchFamily="2" charset="0"/>
                <a:ea typeface="T-Sans" pitchFamily="2" charset="0"/>
              </a:rPr>
              <a:t>Стирание типов (</a:t>
            </a:r>
            <a:r>
              <a:rPr lang="en-US" dirty="0">
                <a:latin typeface="T-Sans" pitchFamily="2" charset="0"/>
                <a:ea typeface="T-Sans" pitchFamily="2" charset="0"/>
              </a:rPr>
              <a:t>type erasure) </a:t>
            </a:r>
            <a:r>
              <a:rPr lang="ru-RU" dirty="0">
                <a:latin typeface="T-Sans" pitchFamily="2" charset="0"/>
                <a:ea typeface="T-Sans" pitchFamily="2" charset="0"/>
              </a:rPr>
              <a:t> </a:t>
            </a:r>
            <a:r>
              <a:rPr lang="en-US" dirty="0">
                <a:latin typeface="T-Sans" pitchFamily="2" charset="0"/>
                <a:ea typeface="T-Sans" pitchFamily="2" charset="0"/>
              </a:rPr>
              <a:t>– </a:t>
            </a:r>
            <a:r>
              <a:rPr lang="ru-RU" dirty="0">
                <a:latin typeface="T-Sans" pitchFamily="2" charset="0"/>
                <a:ea typeface="T-Sans" pitchFamily="2" charset="0"/>
              </a:rPr>
              <a:t>что это?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T-Sans" pitchFamily="2" charset="0"/>
                <a:ea typeface="T-Sans" pitchFamily="2" charset="0"/>
              </a:rPr>
              <a:t>Не поддерживает массивы</a:t>
            </a:r>
            <a:r>
              <a:rPr lang="en-US" dirty="0">
                <a:latin typeface="T-Sans" pitchFamily="2" charset="0"/>
                <a:ea typeface="T-Sans" pitchFamily="2" charset="0"/>
              </a:rPr>
              <a:t> (</a:t>
            </a:r>
            <a:r>
              <a:rPr lang="ru-RU" dirty="0">
                <a:latin typeface="T-Sans" pitchFamily="2" charset="0"/>
                <a:ea typeface="T-Sans" pitchFamily="2" charset="0"/>
              </a:rPr>
              <a:t>никаких </a:t>
            </a:r>
            <a:r>
              <a:rPr lang="en-US" dirty="0">
                <a:latin typeface="T-Sans" pitchFamily="2" charset="0"/>
                <a:ea typeface="T-Sans" pitchFamily="2" charset="0"/>
              </a:rPr>
              <a:t>T[])</a:t>
            </a:r>
            <a:endParaRPr lang="ru-RU" dirty="0">
              <a:latin typeface="T-Sans" pitchFamily="2" charset="0"/>
              <a:ea typeface="T-Sans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T-Sans" pitchFamily="2" charset="0"/>
                <a:ea typeface="T-Sans" pitchFamily="2" charset="0"/>
              </a:rPr>
              <a:t>Не работает с примитивами</a:t>
            </a:r>
            <a:r>
              <a:rPr lang="en-US" dirty="0">
                <a:latin typeface="T-Sans" pitchFamily="2" charset="0"/>
                <a:ea typeface="T-Sans" pitchFamily="2" charset="0"/>
              </a:rPr>
              <a:t> (</a:t>
            </a:r>
            <a:r>
              <a:rPr lang="ru-RU" dirty="0">
                <a:latin typeface="T-Sans" pitchFamily="2" charset="0"/>
                <a:ea typeface="T-Sans" pitchFamily="2" charset="0"/>
              </a:rPr>
              <a:t>никаких </a:t>
            </a:r>
            <a:r>
              <a:rPr lang="en-US" dirty="0">
                <a:latin typeface="T-Sans" pitchFamily="2" charset="0"/>
                <a:ea typeface="T-Sans" pitchFamily="2" charset="0"/>
              </a:rPr>
              <a:t>List&lt;int</a:t>
            </a:r>
            <a:r>
              <a:rPr lang="en-US" dirty="0">
                <a:latin typeface="T-Sans" pitchFamily="2" charset="0"/>
                <a:ea typeface="T-Sans" pitchFamily="2" charset="0"/>
                <a:sym typeface="Wingdings" pitchFamily="2" charset="2"/>
              </a:rPr>
              <a:t>&gt;)</a:t>
            </a:r>
            <a:endParaRPr lang="ru-RU" dirty="0">
              <a:latin typeface="T-Sans" pitchFamily="2" charset="0"/>
              <a:ea typeface="T-Sans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T-Sans" pitchFamily="2" charset="0"/>
                <a:ea typeface="T-Sans" pitchFamily="2" charset="0"/>
              </a:rPr>
              <a:t>Нет </a:t>
            </a:r>
            <a:r>
              <a:rPr lang="en-US" dirty="0">
                <a:latin typeface="T-Sans" pitchFamily="2" charset="0"/>
                <a:ea typeface="T-Sans" pitchFamily="2" charset="0"/>
              </a:rPr>
              <a:t>static (</a:t>
            </a:r>
            <a:r>
              <a:rPr lang="ru-RU" dirty="0">
                <a:latin typeface="T-Sans" pitchFamily="2" charset="0"/>
                <a:ea typeface="T-Sans" pitchFamily="2" charset="0"/>
              </a:rPr>
              <a:t>никаких </a:t>
            </a:r>
            <a:r>
              <a:rPr lang="en-US" dirty="0">
                <a:latin typeface="T-Sans" pitchFamily="2" charset="0"/>
                <a:ea typeface="T-Sans" pitchFamily="2" charset="0"/>
              </a:rPr>
              <a:t>public static T t)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DE9D7E-9305-15CC-FF07-F949EBDEAEA2}"/>
              </a:ext>
            </a:extLst>
          </p:cNvPr>
          <p:cNvSpPr txBox="1"/>
          <p:nvPr/>
        </p:nvSpPr>
        <p:spPr>
          <a:xfrm>
            <a:off x="8071103" y="1836967"/>
            <a:ext cx="6575860" cy="12018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Будем использовать все возможности существующих классов, мы же не хотим писать отдельную реализацию листа конкретно под хранение инструментов?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9BAC725-7607-8AEC-920B-3D737EAFB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1102" y="3314049"/>
            <a:ext cx="8965613" cy="693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96577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Полилиния 42">
            <a:extLst>
              <a:ext uri="{FF2B5EF4-FFF2-40B4-BE49-F238E27FC236}">
                <a16:creationId xmlns:a16="http://schemas.microsoft.com/office/drawing/2014/main" id="{C88D9C8E-498A-3DF7-65E0-3D6F64F18B6A}"/>
              </a:ext>
            </a:extLst>
          </p:cNvPr>
          <p:cNvSpPr/>
          <p:nvPr/>
        </p:nvSpPr>
        <p:spPr>
          <a:xfrm>
            <a:off x="395288" y="401595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CB2C"/>
              </a:gs>
              <a:gs pos="42000">
                <a:schemeClr val="accent1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94D86F50-CA3E-CC8A-4526-A654B5CFFC8A}"/>
              </a:ext>
            </a:extLst>
          </p:cNvPr>
          <p:cNvSpPr/>
          <p:nvPr/>
        </p:nvSpPr>
        <p:spPr>
          <a:xfrm>
            <a:off x="5617545" y="448702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sp>
        <p:nvSpPr>
          <p:cNvPr id="22" name="Полилиния 21">
            <a:extLst>
              <a:ext uri="{FF2B5EF4-FFF2-40B4-BE49-F238E27FC236}">
                <a16:creationId xmlns:a16="http://schemas.microsoft.com/office/drawing/2014/main" id="{0B05CE30-B97D-B0FE-4389-306D75B2FCBF}"/>
              </a:ext>
            </a:extLst>
          </p:cNvPr>
          <p:cNvSpPr/>
          <p:nvPr/>
        </p:nvSpPr>
        <p:spPr>
          <a:xfrm>
            <a:off x="395288" y="5686827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76E02308-E540-DB6E-066E-013CC1748239}"/>
              </a:ext>
            </a:extLst>
          </p:cNvPr>
          <p:cNvSpPr/>
          <p:nvPr/>
        </p:nvSpPr>
        <p:spPr>
          <a:xfrm>
            <a:off x="5617545" y="9772253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AF66F7-80D4-BCC7-2099-618E63B667F9}"/>
              </a:ext>
            </a:extLst>
          </p:cNvPr>
          <p:cNvSpPr txBox="1"/>
          <p:nvPr/>
        </p:nvSpPr>
        <p:spPr>
          <a:xfrm>
            <a:off x="925085" y="6829641"/>
            <a:ext cx="5495728" cy="333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Если мы не знаем какой тип будет, то можем использовать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wildcard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, то есть ключевой символ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&lt;?&gt;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. Так мы показываем, что примем любой 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генерик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А еще его можно сделать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bounded</a:t>
            </a:r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&lt;? extends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MyClass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&gt;</a:t>
            </a:r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&lt;? super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MyClass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&gt;</a:t>
            </a: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E13CFE-EFB5-4EA0-D49D-5443B2130518}"/>
              </a:ext>
            </a:extLst>
          </p:cNvPr>
          <p:cNvSpPr txBox="1"/>
          <p:nvPr/>
        </p:nvSpPr>
        <p:spPr>
          <a:xfrm>
            <a:off x="925085" y="6257899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Wildcard</a:t>
            </a:r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2AF3F7-27F2-FB47-A94A-9F790517B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051" y="4718527"/>
            <a:ext cx="571763" cy="571763"/>
          </a:xfrm>
          <a:prstGeom prst="rect">
            <a:avLst/>
          </a:prstGeom>
        </p:spPr>
      </p:pic>
      <p:sp>
        <p:nvSpPr>
          <p:cNvPr id="23" name="Полилиния 22">
            <a:extLst>
              <a:ext uri="{FF2B5EF4-FFF2-40B4-BE49-F238E27FC236}">
                <a16:creationId xmlns:a16="http://schemas.microsoft.com/office/drawing/2014/main" id="{D9FD5FE2-3858-E863-1F9E-02ED4DC5A4E3}"/>
              </a:ext>
            </a:extLst>
          </p:cNvPr>
          <p:cNvSpPr/>
          <p:nvPr/>
        </p:nvSpPr>
        <p:spPr>
          <a:xfrm>
            <a:off x="6767513" y="5675438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4" name="Полилиния 23">
            <a:extLst>
              <a:ext uri="{FF2B5EF4-FFF2-40B4-BE49-F238E27FC236}">
                <a16:creationId xmlns:a16="http://schemas.microsoft.com/office/drawing/2014/main" id="{9F78A87F-C6DC-B2E3-F9B6-EA716FBF59E4}"/>
              </a:ext>
            </a:extLst>
          </p:cNvPr>
          <p:cNvSpPr/>
          <p:nvPr/>
        </p:nvSpPr>
        <p:spPr>
          <a:xfrm>
            <a:off x="13176249" y="5675438"/>
            <a:ext cx="6240963" cy="5107688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F66A591E-4B96-07AD-2FA5-CD9B66C6678C}"/>
              </a:ext>
            </a:extLst>
          </p:cNvPr>
          <p:cNvSpPr/>
          <p:nvPr/>
        </p:nvSpPr>
        <p:spPr>
          <a:xfrm>
            <a:off x="12006646" y="974765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4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80EF26C3-8987-8434-B70C-A5EB1125BBFB}"/>
              </a:ext>
            </a:extLst>
          </p:cNvPr>
          <p:cNvSpPr/>
          <p:nvPr/>
        </p:nvSpPr>
        <p:spPr>
          <a:xfrm>
            <a:off x="18373772" y="9747651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13B7FC-E73B-5A4E-FF6D-76D0F125F818}"/>
              </a:ext>
            </a:extLst>
          </p:cNvPr>
          <p:cNvSpPr txBox="1"/>
          <p:nvPr/>
        </p:nvSpPr>
        <p:spPr>
          <a:xfrm>
            <a:off x="13686937" y="7943537"/>
            <a:ext cx="5501173" cy="1892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List&lt;Instrument&gt;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и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List&lt;Stock&gt;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инвариантны (не связаны никак)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</a:t>
            </a: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List&lt;? extends X&gt; - 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ковариантен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List&lt;? super X&gt; - 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контравариантен</a:t>
            </a: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1758A7-6D17-F0A2-4C2C-665CF35595DB}"/>
              </a:ext>
            </a:extLst>
          </p:cNvPr>
          <p:cNvSpPr txBox="1"/>
          <p:nvPr/>
        </p:nvSpPr>
        <p:spPr>
          <a:xfrm>
            <a:off x="13724509" y="6225729"/>
            <a:ext cx="4875212" cy="15096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ru-RU" dirty="0"/>
              <a:t>Инвариантность</a:t>
            </a:r>
          </a:p>
          <a:p>
            <a:r>
              <a:rPr lang="ru-RU" dirty="0"/>
              <a:t>Ковариантность</a:t>
            </a:r>
          </a:p>
          <a:p>
            <a:r>
              <a:rPr lang="ru-RU" dirty="0" err="1"/>
              <a:t>Контравариантность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980191-BD99-1238-3D4D-760384442BBC}"/>
              </a:ext>
            </a:extLst>
          </p:cNvPr>
          <p:cNvSpPr txBox="1"/>
          <p:nvPr/>
        </p:nvSpPr>
        <p:spPr>
          <a:xfrm>
            <a:off x="7324797" y="6225729"/>
            <a:ext cx="5264722" cy="101104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PECS 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(Producer Extends, Consumer Super)</a:t>
            </a:r>
            <a:endParaRPr lang="ru-RU" sz="1800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endParaRPr lang="ru-RU" dirty="0"/>
          </a:p>
        </p:txBody>
      </p:sp>
      <p:sp>
        <p:nvSpPr>
          <p:cNvPr id="25" name="Полилиния 24">
            <a:extLst>
              <a:ext uri="{FF2B5EF4-FFF2-40B4-BE49-F238E27FC236}">
                <a16:creationId xmlns:a16="http://schemas.microsoft.com/office/drawing/2014/main" id="{5D9867AC-90FF-E151-42B1-155295802A6F}"/>
              </a:ext>
            </a:extLst>
          </p:cNvPr>
          <p:cNvSpPr/>
          <p:nvPr/>
        </p:nvSpPr>
        <p:spPr>
          <a:xfrm>
            <a:off x="6767513" y="408494"/>
            <a:ext cx="6240962" cy="5107688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8" name="Полилиния 27">
            <a:extLst>
              <a:ext uri="{FF2B5EF4-FFF2-40B4-BE49-F238E27FC236}">
                <a16:creationId xmlns:a16="http://schemas.microsoft.com/office/drawing/2014/main" id="{EB5F817E-C406-DCD4-976B-07D13056C790}"/>
              </a:ext>
            </a:extLst>
          </p:cNvPr>
          <p:cNvSpPr/>
          <p:nvPr/>
        </p:nvSpPr>
        <p:spPr>
          <a:xfrm>
            <a:off x="13176249" y="408494"/>
            <a:ext cx="6240963" cy="5107688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F16F969E-B1C1-882E-5BD4-24F9E1F3B8C3}"/>
              </a:ext>
            </a:extLst>
          </p:cNvPr>
          <p:cNvSpPr/>
          <p:nvPr/>
        </p:nvSpPr>
        <p:spPr>
          <a:xfrm>
            <a:off x="12006646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1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640AFFE3-A146-61AA-AE75-7110156C9FD1}"/>
              </a:ext>
            </a:extLst>
          </p:cNvPr>
          <p:cNvSpPr/>
          <p:nvPr/>
        </p:nvSpPr>
        <p:spPr>
          <a:xfrm>
            <a:off x="18373772" y="4480707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600" dirty="0">
                <a:solidFill>
                  <a:schemeClr val="accent2"/>
                </a:solidFill>
                <a:latin typeface="T-Sans Medium" panose="02000506050000020004" pitchFamily="2" charset="0"/>
                <a:ea typeface="T-Sans Medium" panose="02000506050000020004" pitchFamily="2" charset="0"/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B17BE9-CD1F-5740-13E2-D295FF2ECD30}"/>
              </a:ext>
            </a:extLst>
          </p:cNvPr>
          <p:cNvSpPr txBox="1"/>
          <p:nvPr/>
        </p:nvSpPr>
        <p:spPr>
          <a:xfrm>
            <a:off x="13724508" y="1731896"/>
            <a:ext cx="5463603" cy="333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Часто мы хотим использовать не конкретный тип, а связанный с им по ООП иерархии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(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его наследников или родителей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)</a:t>
            </a: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Для этого можно использовать </a:t>
            </a: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&lt;T extends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MyClass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&gt;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- наследники</a:t>
            </a: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&lt;T super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MyClass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&gt;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- родители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685FD4-DDF3-5D1F-3A89-569A72214BEA}"/>
              </a:ext>
            </a:extLst>
          </p:cNvPr>
          <p:cNvSpPr txBox="1"/>
          <p:nvPr/>
        </p:nvSpPr>
        <p:spPr>
          <a:xfrm>
            <a:off x="13724509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Bounded type</a:t>
            </a:r>
            <a:endParaRPr lang="ru-RU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DD79C2-3211-B96A-2AB9-AAA624525164}"/>
              </a:ext>
            </a:extLst>
          </p:cNvPr>
          <p:cNvSpPr txBox="1"/>
          <p:nvPr/>
        </p:nvSpPr>
        <p:spPr>
          <a:xfrm>
            <a:off x="7324796" y="1731895"/>
            <a:ext cx="5423471" cy="28623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После компиляции никаких типов не останется. 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pPr algn="l"/>
            <a:r>
              <a:rPr lang="en-US" dirty="0">
                <a:latin typeface="T-Sans" pitchFamily="2" charset="0"/>
                <a:ea typeface="T-Sans" pitchFamily="2" charset="0"/>
              </a:rPr>
              <a:t>List&lt;String&gt; </a:t>
            </a:r>
            <a:r>
              <a:rPr lang="ru-RU" dirty="0">
                <a:latin typeface="T-Sans" pitchFamily="2" charset="0"/>
                <a:ea typeface="T-Sans" pitchFamily="2" charset="0"/>
              </a:rPr>
              <a:t>и </a:t>
            </a:r>
            <a:r>
              <a:rPr lang="en-US" dirty="0">
                <a:latin typeface="T-Sans" pitchFamily="2" charset="0"/>
                <a:ea typeface="T-Sans" pitchFamily="2" charset="0"/>
              </a:rPr>
              <a:t>List&lt;Integer&gt; </a:t>
            </a:r>
            <a:r>
              <a:rPr lang="ru-RU" dirty="0">
                <a:latin typeface="T-Sans" pitchFamily="2" charset="0"/>
                <a:ea typeface="T-Sans" pitchFamily="2" charset="0"/>
              </a:rPr>
              <a:t>станут просто </a:t>
            </a:r>
            <a:r>
              <a:rPr lang="en-US" dirty="0">
                <a:latin typeface="T-Sans" pitchFamily="2" charset="0"/>
                <a:ea typeface="T-Sans" pitchFamily="2" charset="0"/>
              </a:rPr>
              <a:t>List.</a:t>
            </a:r>
            <a:endParaRPr lang="ru-RU" dirty="0">
              <a:latin typeface="T-Sans" pitchFamily="2" charset="0"/>
              <a:ea typeface="T-Sans" pitchFamily="2" charset="0"/>
            </a:endParaRPr>
          </a:p>
          <a:p>
            <a:pPr algn="l"/>
            <a:endParaRPr lang="ru-RU" dirty="0">
              <a:latin typeface="T-Sans" pitchFamily="2" charset="0"/>
              <a:ea typeface="T-Sans" pitchFamily="2" charset="0"/>
            </a:endParaRPr>
          </a:p>
          <a:p>
            <a:pPr algn="l"/>
            <a:r>
              <a:rPr lang="ru-RU" dirty="0">
                <a:latin typeface="T-Sans" pitchFamily="2" charset="0"/>
                <a:ea typeface="T-Sans" pitchFamily="2" charset="0"/>
              </a:rPr>
              <a:t>Все обращения к </a:t>
            </a:r>
            <a:r>
              <a:rPr lang="en-US" dirty="0">
                <a:latin typeface="T-Sans" pitchFamily="2" charset="0"/>
                <a:ea typeface="T-Sans" pitchFamily="2" charset="0"/>
              </a:rPr>
              <a:t>generic</a:t>
            </a:r>
            <a:r>
              <a:rPr lang="ru-RU" dirty="0">
                <a:latin typeface="T-Sans" pitchFamily="2" charset="0"/>
                <a:ea typeface="T-Sans" pitchFamily="2" charset="0"/>
              </a:rPr>
              <a:t> переменным получат явные касты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D2DBDE-3D6E-4B3B-7166-E4F0190A6185}"/>
              </a:ext>
            </a:extLst>
          </p:cNvPr>
          <p:cNvSpPr txBox="1"/>
          <p:nvPr/>
        </p:nvSpPr>
        <p:spPr>
          <a:xfrm>
            <a:off x="7324797" y="958785"/>
            <a:ext cx="4875212" cy="512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ru-RU" dirty="0"/>
              <a:t>Стирание типов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2FD507-AF5A-CB87-628E-55D1A2E8EADA}"/>
              </a:ext>
            </a:extLst>
          </p:cNvPr>
          <p:cNvSpPr txBox="1"/>
          <p:nvPr/>
        </p:nvSpPr>
        <p:spPr>
          <a:xfrm>
            <a:off x="611188" y="1085446"/>
            <a:ext cx="5809625" cy="22006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80000"/>
              </a:lnSpc>
              <a:defRPr sz="7200" b="1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sz="4400" b="0" dirty="0">
                <a:solidFill>
                  <a:srgbClr val="0A0A0A"/>
                </a:solidFill>
                <a:latin typeface="T-Sans"/>
              </a:rPr>
              <a:t>А теперь про особенности работы </a:t>
            </a:r>
            <a:r>
              <a:rPr lang="en-US" sz="4400" b="0" dirty="0">
                <a:solidFill>
                  <a:srgbClr val="0A0A0A"/>
                </a:solidFill>
                <a:latin typeface="T-Sans"/>
              </a:rPr>
              <a:t>Generics</a:t>
            </a:r>
            <a:r>
              <a:rPr lang="ru-RU" sz="4400" b="0" dirty="0">
                <a:solidFill>
                  <a:srgbClr val="0A0A0A"/>
                </a:solidFill>
                <a:latin typeface="T-Sans"/>
              </a:rPr>
              <a:t> и более сложные конструкции</a:t>
            </a:r>
            <a:endParaRPr lang="ru-RU" sz="4400" b="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9FA615-A631-EB2E-7A30-FD75D3CB8760}"/>
              </a:ext>
            </a:extLst>
          </p:cNvPr>
          <p:cNvSpPr txBox="1"/>
          <p:nvPr/>
        </p:nvSpPr>
        <p:spPr>
          <a:xfrm>
            <a:off x="7324797" y="6765133"/>
            <a:ext cx="5264722" cy="38133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Правила работы с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wildcard</a:t>
            </a: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- Из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&lt;? extends X&gt;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можно только читать</a:t>
            </a: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- В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&lt;? super X&gt;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можно только записывать (или читать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Object)</a:t>
            </a: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en-US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>
              <a:lnSpc>
                <a:spcPct val="130000"/>
              </a:lnSpc>
            </a:pP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C9C746-0EAA-8FA3-F501-F6972077CE6A}"/>
              </a:ext>
            </a:extLst>
          </p:cNvPr>
          <p:cNvSpPr txBox="1"/>
          <p:nvPr/>
        </p:nvSpPr>
        <p:spPr>
          <a:xfrm>
            <a:off x="14845591" y="10016675"/>
            <a:ext cx="2096085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(отдельный слайд </a:t>
            </a:r>
            <a:r>
              <a:rPr lang="en-US" sz="1800" dirty="0">
                <a:latin typeface="T-Sans" pitchFamily="2" charset="0"/>
                <a:ea typeface="T-Sans" pitchFamily="2" charset="0"/>
                <a:sym typeface="Wingdings" pitchFamily="2" charset="2"/>
              </a:rPr>
              <a:t></a:t>
            </a:r>
            <a:r>
              <a: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5935999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Овал 18">
            <a:extLst>
              <a:ext uri="{FF2B5EF4-FFF2-40B4-BE49-F238E27FC236}">
                <a16:creationId xmlns:a16="http://schemas.microsoft.com/office/drawing/2014/main" id="{288CEEEE-BCBD-7734-3252-FF3AC14C10D4}"/>
              </a:ext>
            </a:extLst>
          </p:cNvPr>
          <p:cNvSpPr/>
          <p:nvPr/>
        </p:nvSpPr>
        <p:spPr>
          <a:xfrm>
            <a:off x="8793439" y="7099132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B46DD5D0-73BB-6478-1A6F-959CDA08A8F2}"/>
              </a:ext>
            </a:extLst>
          </p:cNvPr>
          <p:cNvSpPr/>
          <p:nvPr/>
        </p:nvSpPr>
        <p:spPr>
          <a:xfrm>
            <a:off x="18397678" y="7099132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F75A1B5-C9AC-DAE0-8435-09DDF6774DF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" b="282"/>
          <a:stretch>
            <a:fillRect/>
          </a:stretch>
        </p:blipFill>
        <p:spPr>
          <a:xfrm>
            <a:off x="400050" y="1747838"/>
            <a:ext cx="9429750" cy="6370637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8C9B0F6-1FFD-D388-F8C7-E26B6726B0ED}"/>
              </a:ext>
            </a:extLst>
          </p:cNvPr>
          <p:cNvSpPr txBox="1"/>
          <p:nvPr/>
        </p:nvSpPr>
        <p:spPr>
          <a:xfrm>
            <a:off x="611188" y="8610815"/>
            <a:ext cx="6011862" cy="5424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ts val="4200"/>
              </a:lnSpc>
            </a:pPr>
            <a:r>
              <a:rPr lang="ru-RU" sz="3600" dirty="0">
                <a:latin typeface="T-Sans Medium" pitchFamily="2" charset="0"/>
                <a:ea typeface="T-Sans" pitchFamily="2" charset="0"/>
              </a:rPr>
              <a:t>Ковариантность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616E54-30FD-C24F-4510-1B530E508BE2}"/>
              </a:ext>
            </a:extLst>
          </p:cNvPr>
          <p:cNvSpPr txBox="1"/>
          <p:nvPr/>
        </p:nvSpPr>
        <p:spPr>
          <a:xfrm>
            <a:off x="611188" y="9340048"/>
            <a:ext cx="8844539" cy="8679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spcAft>
                <a:spcPts val="1800"/>
              </a:spcAft>
              <a:defRPr sz="2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Можем читать, но не можем писать, так как не знаем будет ли записываемый нами тип наследником реального типа в коллекции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C225C8-CDC7-B7CF-67CA-3F8FFBDA1EB1}"/>
              </a:ext>
            </a:extLst>
          </p:cNvPr>
          <p:cNvSpPr txBox="1"/>
          <p:nvPr/>
        </p:nvSpPr>
        <p:spPr>
          <a:xfrm>
            <a:off x="10503240" y="8610815"/>
            <a:ext cx="6011862" cy="5424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ts val="4200"/>
              </a:lnSpc>
            </a:pPr>
            <a:r>
              <a:rPr lang="ru-RU" sz="3600" dirty="0" err="1">
                <a:latin typeface="T-Sans Medium" pitchFamily="2" charset="0"/>
                <a:ea typeface="T-Sans" pitchFamily="2" charset="0"/>
              </a:rPr>
              <a:t>Контравариантность</a:t>
            </a:r>
            <a:endParaRPr lang="ru-RU" sz="3600" dirty="0">
              <a:latin typeface="T-Sans Medium" pitchFamily="2" charset="0"/>
              <a:ea typeface="T-Sans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FF1FF0-AC20-FD11-379C-5F461DB16C58}"/>
              </a:ext>
            </a:extLst>
          </p:cNvPr>
          <p:cNvSpPr txBox="1"/>
          <p:nvPr/>
        </p:nvSpPr>
        <p:spPr>
          <a:xfrm>
            <a:off x="10503240" y="9340048"/>
            <a:ext cx="8929212" cy="8679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spcAft>
                <a:spcPts val="1800"/>
              </a:spcAft>
              <a:defRPr sz="2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Можем только записывать класс и его наследников, читать можем только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Object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 (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довольно бесполезно получается)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A532F74-78B8-925F-9225-4C0C6D3898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3554" y="7289247"/>
            <a:ext cx="654545" cy="65454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161B69-DBB5-828D-65CF-C05E0D67A3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7793" y="7289247"/>
            <a:ext cx="654545" cy="65454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0943162-6C5D-C026-2CA4-1229761F8E15}"/>
              </a:ext>
            </a:extLst>
          </p:cNvPr>
          <p:cNvSpPr txBox="1"/>
          <p:nvPr/>
        </p:nvSpPr>
        <p:spPr>
          <a:xfrm>
            <a:off x="611187" y="627306"/>
            <a:ext cx="12629325" cy="6278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80000"/>
              </a:lnSpc>
            </a:pPr>
            <a:r>
              <a:rPr lang="ru-RU" sz="4800" b="0" dirty="0">
                <a:latin typeface="T-Sans" pitchFamily="2" charset="0"/>
                <a:ea typeface="T-Sans" pitchFamily="2" charset="0"/>
              </a:rPr>
              <a:t>Подробнее про контра/ко-вариантность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6D21F2A8-A74E-F1BA-3F5F-6BFCDA67A57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6" b="1326"/>
          <a:stretch>
            <a:fillRect/>
          </a:stretch>
        </p:blipFill>
        <p:spPr>
          <a:xfrm>
            <a:off x="9971088" y="1747838"/>
            <a:ext cx="9429750" cy="6370637"/>
          </a:xfrm>
        </p:spPr>
      </p:pic>
    </p:spTree>
    <p:extLst>
      <p:ext uri="{BB962C8B-B14F-4D97-AF65-F5344CB8AC3E}">
        <p14:creationId xmlns:p14="http://schemas.microsoft.com/office/powerpoint/2010/main" val="408720958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1E5570F8-9A9F-285E-4E03-BD9A6CF4F0B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14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4E705-425A-AD37-7C82-42FF7D07134B}"/>
              </a:ext>
            </a:extLst>
          </p:cNvPr>
          <p:cNvSpPr txBox="1"/>
          <p:nvPr/>
        </p:nvSpPr>
        <p:spPr>
          <a:xfrm>
            <a:off x="1366838" y="1371557"/>
            <a:ext cx="16653976" cy="10248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7200" b="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Optional&lt;T&gt;</a:t>
            </a:r>
            <a:endParaRPr lang="ru-RU" sz="7200" b="0" dirty="0">
              <a:solidFill>
                <a:schemeClr val="accent6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C7B878-EA30-7CE0-B47F-9C6D305F1DA2}"/>
              </a:ext>
            </a:extLst>
          </p:cNvPr>
          <p:cNvSpPr txBox="1"/>
          <p:nvPr/>
        </p:nvSpPr>
        <p:spPr>
          <a:xfrm>
            <a:off x="1366838" y="2393194"/>
            <a:ext cx="14543323" cy="13018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Удобная обертка объектов, которая защитит нас от </a:t>
            </a:r>
            <a:r>
              <a:rPr lang="ru-RU" sz="3600" dirty="0" err="1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n</a:t>
            </a:r>
            <a:r>
              <a:rPr lang="en-US" sz="3600" dirty="0" err="1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ull</a:t>
            </a:r>
            <a:endParaRPr lang="en" sz="3600" dirty="0">
              <a:latin typeface="T-Sans" pitchFamily="2" charset="0"/>
              <a:ea typeface="T-Sans" pitchFamily="2" charset="0"/>
            </a:endParaRPr>
          </a:p>
          <a:p>
            <a:pPr>
              <a:lnSpc>
                <a:spcPct val="120000"/>
              </a:lnSpc>
            </a:pPr>
            <a:endParaRPr lang="ru-RU" sz="3600" dirty="0">
              <a:solidFill>
                <a:schemeClr val="accent6"/>
              </a:solidFill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190767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530F7A5D-F5D7-E6BD-747A-6D5284DA45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15</a:t>
            </a:fld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92D358-E8E5-63DF-1D61-218928D980C1}"/>
              </a:ext>
            </a:extLst>
          </p:cNvPr>
          <p:cNvSpPr txBox="1"/>
          <p:nvPr/>
        </p:nvSpPr>
        <p:spPr>
          <a:xfrm>
            <a:off x="622607" y="2316585"/>
            <a:ext cx="5704039" cy="12018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Класс-обертка над любым другим объектом (</a:t>
            </a:r>
            <a:r>
              <a:rPr lang="ru-RU" dirty="0" err="1">
                <a:latin typeface="T-Sans" pitchFamily="2" charset="0"/>
                <a:ea typeface="T-Sans" pitchFamily="2" charset="0"/>
              </a:rPr>
              <a:t>генерик</a:t>
            </a:r>
            <a:r>
              <a:rPr lang="ru-RU" dirty="0">
                <a:latin typeface="T-Sans" pitchFamily="2" charset="0"/>
                <a:ea typeface="T-Sans" pitchFamily="2" charset="0"/>
              </a:rPr>
              <a:t> Т)</a:t>
            </a: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Создан как подобие </a:t>
            </a:r>
            <a:r>
              <a:rPr lang="en-US" dirty="0">
                <a:latin typeface="T-Sans" pitchFamily="2" charset="0"/>
                <a:ea typeface="T-Sans" pitchFamily="2" charset="0"/>
              </a:rPr>
              <a:t>Maybe </a:t>
            </a:r>
            <a:r>
              <a:rPr lang="ru-RU" dirty="0">
                <a:latin typeface="T-Sans" pitchFamily="2" charset="0"/>
                <a:ea typeface="T-Sans" pitchFamily="2" charset="0"/>
              </a:rPr>
              <a:t>в </a:t>
            </a:r>
            <a:r>
              <a:rPr lang="en-US" dirty="0">
                <a:latin typeface="T-Sans" pitchFamily="2" charset="0"/>
                <a:ea typeface="T-Sans" pitchFamily="2" charset="0"/>
              </a:rPr>
              <a:t>Haskell/Scala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AD1F9E-7A8E-0D3B-E2C0-8AFEE77263AB}"/>
              </a:ext>
            </a:extLst>
          </p:cNvPr>
          <p:cNvSpPr txBox="1"/>
          <p:nvPr/>
        </p:nvSpPr>
        <p:spPr>
          <a:xfrm>
            <a:off x="611188" y="1321118"/>
            <a:ext cx="6587280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b="0" dirty="0">
                <a:latin typeface="T-Sans" pitchFamily="2" charset="0"/>
                <a:ea typeface="T-Sans" pitchFamily="2" charset="0"/>
              </a:rPr>
              <a:t>Optional&lt;T&gt;</a:t>
            </a:r>
            <a:endParaRPr lang="ru-RU" b="0" dirty="0">
              <a:latin typeface="T-Sans" pitchFamily="2" charset="0"/>
              <a:ea typeface="T-Sans" pitchFamily="2" charset="0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56AC23A-04C6-0CB7-4194-08E51495C828}"/>
              </a:ext>
            </a:extLst>
          </p:cNvPr>
          <p:cNvGrpSpPr/>
          <p:nvPr/>
        </p:nvGrpSpPr>
        <p:grpSpPr>
          <a:xfrm>
            <a:off x="7477170" y="647700"/>
            <a:ext cx="11448000" cy="9864725"/>
            <a:chOff x="7477170" y="647700"/>
            <a:chExt cx="11448000" cy="9864725"/>
          </a:xfrm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16DCC4B4-3EBC-8B3B-EA9A-30F82B9B5612}"/>
                </a:ext>
              </a:extLst>
            </p:cNvPr>
            <p:cNvSpPr/>
            <p:nvPr/>
          </p:nvSpPr>
          <p:spPr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50ABFB29-9A1D-4E9A-7806-2134A16A9F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2B004E8-4FC8-C030-6D79-CC671F3EFC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B31BB015-4971-4842-1ED0-CD88AC28F2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endParaRPr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EE763C6C-231F-5639-A9C0-7BF198248EBC}"/>
                </a:ext>
              </a:extLst>
            </p:cNvPr>
            <p:cNvSpPr/>
            <p:nvPr/>
          </p:nvSpPr>
          <p:spPr>
            <a:xfrm>
              <a:off x="7621170" y="1245510"/>
              <a:ext cx="11160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C8338FD-B28D-970C-526D-ECD655EB2F33}"/>
              </a:ext>
            </a:extLst>
          </p:cNvPr>
          <p:cNvSpPr txBox="1"/>
          <p:nvPr/>
        </p:nvSpPr>
        <p:spPr>
          <a:xfrm>
            <a:off x="622608" y="4072899"/>
            <a:ext cx="6575860" cy="12018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Общая задумка – оборачиваем экземпляр объекта (или </a:t>
            </a:r>
            <a:r>
              <a:rPr lang="en-US" dirty="0">
                <a:latin typeface="T-Sans" pitchFamily="2" charset="0"/>
                <a:ea typeface="T-Sans" pitchFamily="2" charset="0"/>
              </a:rPr>
              <a:t>null) </a:t>
            </a:r>
            <a:r>
              <a:rPr lang="ru-RU" dirty="0">
                <a:latin typeface="T-Sans" pitchFamily="2" charset="0"/>
                <a:ea typeface="T-Sans" pitchFamily="2" charset="0"/>
              </a:rPr>
              <a:t>и используем удобные методы для работы, не боясь получить </a:t>
            </a:r>
            <a:r>
              <a:rPr lang="en-US" dirty="0" err="1">
                <a:latin typeface="T-Sans" pitchFamily="2" charset="0"/>
                <a:ea typeface="T-Sans" pitchFamily="2" charset="0"/>
              </a:rPr>
              <a:t>NullPointerException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040C2-9BB4-6EB1-6B73-8D49686ACD09}"/>
              </a:ext>
            </a:extLst>
          </p:cNvPr>
          <p:cNvSpPr txBox="1"/>
          <p:nvPr/>
        </p:nvSpPr>
        <p:spPr>
          <a:xfrm>
            <a:off x="757310" y="5885358"/>
            <a:ext cx="6575860" cy="44519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Основные методы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-Sans" pitchFamily="2" charset="0"/>
                <a:ea typeface="T-Sans" pitchFamily="2" charset="0"/>
              </a:rPr>
              <a:t>.of / .</a:t>
            </a:r>
            <a:r>
              <a:rPr lang="en-US" dirty="0" err="1">
                <a:latin typeface="T-Sans" pitchFamily="2" charset="0"/>
                <a:ea typeface="T-Sans" pitchFamily="2" charset="0"/>
              </a:rPr>
              <a:t>ofNullable</a:t>
            </a:r>
            <a:r>
              <a:rPr lang="en-US" dirty="0">
                <a:latin typeface="T-Sans" pitchFamily="2" charset="0"/>
                <a:ea typeface="T-Sans" pitchFamily="2" charset="0"/>
              </a:rPr>
              <a:t> – </a:t>
            </a:r>
            <a:r>
              <a:rPr lang="ru-RU" dirty="0">
                <a:latin typeface="T-Sans" pitchFamily="2" charset="0"/>
                <a:ea typeface="T-Sans" pitchFamily="2" charset="0"/>
              </a:rPr>
              <a:t>обернуть объект в </a:t>
            </a:r>
            <a:r>
              <a:rPr lang="en-US" dirty="0">
                <a:latin typeface="T-Sans" pitchFamily="2" charset="0"/>
                <a:ea typeface="T-Sans" pitchFamily="2" charset="0"/>
              </a:rPr>
              <a:t>Optional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-Sans" pitchFamily="2" charset="0"/>
                <a:ea typeface="T-Sans" pitchFamily="2" charset="0"/>
              </a:rPr>
              <a:t>.get() – </a:t>
            </a:r>
            <a:r>
              <a:rPr lang="en-US" dirty="0" err="1">
                <a:latin typeface="T-Sans" pitchFamily="2" charset="0"/>
                <a:ea typeface="T-Sans" pitchFamily="2" charset="0"/>
              </a:rPr>
              <a:t>д</a:t>
            </a:r>
            <a:r>
              <a:rPr lang="ru-RU" dirty="0" err="1">
                <a:latin typeface="T-Sans" pitchFamily="2" charset="0"/>
                <a:ea typeface="T-Sans" pitchFamily="2" charset="0"/>
              </a:rPr>
              <a:t>остать</a:t>
            </a:r>
            <a:r>
              <a:rPr lang="ru-RU" dirty="0">
                <a:latin typeface="T-Sans" pitchFamily="2" charset="0"/>
                <a:ea typeface="T-Sans" pitchFamily="2" charset="0"/>
              </a:rPr>
              <a:t> объект без проверки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-Sans" pitchFamily="2" charset="0"/>
                <a:ea typeface="T-Sans" pitchFamily="2" charset="0"/>
              </a:rPr>
              <a:t>.</a:t>
            </a:r>
            <a:r>
              <a:rPr lang="en-US" dirty="0" err="1">
                <a:latin typeface="T-Sans" pitchFamily="2" charset="0"/>
                <a:ea typeface="T-Sans" pitchFamily="2" charset="0"/>
              </a:rPr>
              <a:t>orElse</a:t>
            </a:r>
            <a:r>
              <a:rPr lang="en-US" dirty="0">
                <a:latin typeface="T-Sans" pitchFamily="2" charset="0"/>
                <a:ea typeface="T-Sans" pitchFamily="2" charset="0"/>
              </a:rPr>
              <a:t> / </a:t>
            </a:r>
            <a:r>
              <a:rPr lang="en-US" dirty="0" err="1">
                <a:latin typeface="T-Sans" pitchFamily="2" charset="0"/>
                <a:ea typeface="T-Sans" pitchFamily="2" charset="0"/>
              </a:rPr>
              <a:t>orElseGet</a:t>
            </a:r>
            <a:r>
              <a:rPr lang="en-US" dirty="0">
                <a:latin typeface="T-Sans" pitchFamily="2" charset="0"/>
                <a:ea typeface="T-Sans" pitchFamily="2" charset="0"/>
              </a:rPr>
              <a:t> – </a:t>
            </a:r>
            <a:r>
              <a:rPr lang="ru-RU" dirty="0">
                <a:latin typeface="T-Sans" pitchFamily="2" charset="0"/>
                <a:ea typeface="T-Sans" pitchFamily="2" charset="0"/>
              </a:rPr>
              <a:t>достать объект или вернуть запасной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-Sans" pitchFamily="2" charset="0"/>
                <a:ea typeface="T-Sans" pitchFamily="2" charset="0"/>
              </a:rPr>
              <a:t>.</a:t>
            </a:r>
            <a:r>
              <a:rPr lang="en-US" dirty="0" err="1">
                <a:latin typeface="T-Sans" pitchFamily="2" charset="0"/>
                <a:ea typeface="T-Sans" pitchFamily="2" charset="0"/>
              </a:rPr>
              <a:t>orElseThrow</a:t>
            </a:r>
            <a:r>
              <a:rPr lang="en-US" dirty="0">
                <a:latin typeface="T-Sans" pitchFamily="2" charset="0"/>
                <a:ea typeface="T-Sans" pitchFamily="2" charset="0"/>
              </a:rPr>
              <a:t> – </a:t>
            </a:r>
            <a:r>
              <a:rPr lang="ru-RU" dirty="0">
                <a:latin typeface="T-Sans" pitchFamily="2" charset="0"/>
                <a:ea typeface="T-Sans" pitchFamily="2" charset="0"/>
              </a:rPr>
              <a:t>достать объект или кинуть ошибку, если его нет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-Sans" pitchFamily="2" charset="0"/>
                <a:ea typeface="T-Sans" pitchFamily="2" charset="0"/>
              </a:rPr>
              <a:t>map / filter – </a:t>
            </a:r>
            <a:r>
              <a:rPr lang="ru-RU" dirty="0">
                <a:latin typeface="T-Sans" pitchFamily="2" charset="0"/>
                <a:ea typeface="T-Sans" pitchFamily="2" charset="0"/>
              </a:rPr>
              <a:t>промежуточные операции (почти как стрим </a:t>
            </a:r>
            <a:r>
              <a:rPr lang="ru-RU" dirty="0" err="1">
                <a:latin typeface="T-Sans" pitchFamily="2" charset="0"/>
                <a:ea typeface="T-Sans" pitchFamily="2" charset="0"/>
              </a:rPr>
              <a:t>апи</a:t>
            </a:r>
            <a:r>
              <a:rPr lang="ru-RU" dirty="0">
                <a:latin typeface="T-Sans" pitchFamily="2" charset="0"/>
                <a:ea typeface="T-Sans" pitchFamily="2" charset="0"/>
              </a:rPr>
              <a:t>, о котором поговорим позже)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T-Sans" pitchFamily="2" charset="0"/>
                <a:ea typeface="T-Sans" pitchFamily="2" charset="0"/>
              </a:rPr>
              <a:t>isPresent</a:t>
            </a:r>
            <a:r>
              <a:rPr lang="ru-RU" dirty="0">
                <a:latin typeface="T-Sans" pitchFamily="2" charset="0"/>
                <a:ea typeface="T-Sans" pitchFamily="2" charset="0"/>
              </a:rPr>
              <a:t> – проверить что объект внутри есть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T-Sans" pitchFamily="2" charset="0"/>
                <a:ea typeface="T-Sans" pitchFamily="2" charset="0"/>
              </a:rPr>
              <a:t>ifPresent</a:t>
            </a:r>
            <a:r>
              <a:rPr lang="en-US" dirty="0">
                <a:latin typeface="T-Sans" pitchFamily="2" charset="0"/>
                <a:ea typeface="T-Sans" pitchFamily="2" charset="0"/>
              </a:rPr>
              <a:t> – </a:t>
            </a:r>
            <a:r>
              <a:rPr lang="ru-RU" dirty="0">
                <a:latin typeface="T-Sans" pitchFamily="2" charset="0"/>
                <a:ea typeface="T-Sans" pitchFamily="2" charset="0"/>
              </a:rPr>
              <a:t>выполнить что то, если объект есть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EBB6DCB-3E32-14AA-7DA9-87A06C359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1102" y="1844641"/>
            <a:ext cx="7772400" cy="107287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1BB3C3E-F912-C15C-C0E0-CE03FED0213B}"/>
              </a:ext>
            </a:extLst>
          </p:cNvPr>
          <p:cNvSpPr txBox="1"/>
          <p:nvPr/>
        </p:nvSpPr>
        <p:spPr>
          <a:xfrm>
            <a:off x="8071102" y="1461711"/>
            <a:ext cx="807849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Добавим </a:t>
            </a:r>
            <a:r>
              <a:rPr kumimoji="0" lang="en-US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find </a:t>
            </a:r>
            <a:r>
              <a: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метод в наш репозиторий, который возвращает </a:t>
            </a:r>
            <a:r>
              <a:rPr kumimoji="0" lang="en-US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Optional&lt;Instrument&gt;</a:t>
            </a:r>
            <a:endParaRPr kumimoji="0" lang="ru-RU" sz="18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53FB3C-D5FD-77E6-985D-ADC1B073954B}"/>
              </a:ext>
            </a:extLst>
          </p:cNvPr>
          <p:cNvSpPr txBox="1"/>
          <p:nvPr/>
        </p:nvSpPr>
        <p:spPr>
          <a:xfrm>
            <a:off x="8071102" y="3123728"/>
            <a:ext cx="299056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800" dirty="0">
                <a:latin typeface="T-Sans" pitchFamily="2" charset="0"/>
                <a:ea typeface="T-Sans" pitchFamily="2" charset="0"/>
              </a:rPr>
              <a:t>Как бы нам это использовать?</a:t>
            </a:r>
            <a:endParaRPr kumimoji="0" lang="ru-RU" sz="18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sym typeface="Tinkoff Sans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ED5CB7E-1165-6894-D4D9-DA1CCD6ED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1101" y="3515328"/>
            <a:ext cx="8078491" cy="6667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13133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01F23E-7C8E-FD76-E3A3-8CE5D4ABA14D}"/>
              </a:ext>
            </a:extLst>
          </p:cNvPr>
          <p:cNvSpPr txBox="1"/>
          <p:nvPr/>
        </p:nvSpPr>
        <p:spPr>
          <a:xfrm>
            <a:off x="2236676" y="2178917"/>
            <a:ext cx="8644611" cy="11233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4000" b="0" dirty="0">
                <a:solidFill>
                  <a:schemeClr val="tx1"/>
                </a:solidFill>
                <a:latin typeface="T-Sans" pitchFamily="2" charset="0"/>
                <a:ea typeface="T-Sans" pitchFamily="2" charset="0"/>
              </a:rPr>
              <a:t>Дополнительный вопрос – а в чем разница?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C4232E5-EA00-F2E8-6C17-43DA0D86DB4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16</a:t>
            </a:fld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8CFE7BB-7760-6667-B867-8C5C07566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900000">
            <a:off x="9539489" y="698702"/>
            <a:ext cx="9404604" cy="9404604"/>
          </a:xfrm>
          <a:prstGeom prst="rect">
            <a:avLst/>
          </a:prstGeom>
        </p:spPr>
      </p:pic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61D25D69-630B-0480-5DF3-BA80CEF65EE3}"/>
              </a:ext>
            </a:extLst>
          </p:cNvPr>
          <p:cNvSpPr/>
          <p:nvPr/>
        </p:nvSpPr>
        <p:spPr>
          <a:xfrm>
            <a:off x="1974748" y="5005137"/>
            <a:ext cx="9591610" cy="2852687"/>
          </a:xfrm>
          <a:prstGeom prst="roundRect">
            <a:avLst>
              <a:gd name="adj" fmla="val 2808"/>
            </a:avLst>
          </a:prstGeom>
          <a:solidFill>
            <a:schemeClr val="tx1">
              <a:lumMod val="75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77"/>
              <a:ea typeface="T-Sans" pitchFamily="2" charset="77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FBCCE30-E221-04F8-182E-C1B6ADA2A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679" y="5176798"/>
            <a:ext cx="9254706" cy="2534027"/>
          </a:xfrm>
          <a:prstGeom prst="rect">
            <a:avLst/>
          </a:prstGeom>
        </p:spPr>
      </p:pic>
      <p:pic>
        <p:nvPicPr>
          <p:cNvPr id="1026" name="Picture 2" descr="Huh cat side on &quot; Sticker for Sale by rbuser4 | Redbubble">
            <a:extLst>
              <a:ext uri="{FF2B5EF4-FFF2-40B4-BE49-F238E27FC236}">
                <a16:creationId xmlns:a16="http://schemas.microsoft.com/office/drawing/2014/main" id="{955F3278-1E40-3B78-772B-7DECC30BB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9518" y="8029485"/>
            <a:ext cx="2348203" cy="313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9E28C08-66DF-DE6D-4111-3B09BE4CEF5D}"/>
              </a:ext>
            </a:extLst>
          </p:cNvPr>
          <p:cNvSpPr txBox="1"/>
          <p:nvPr/>
        </p:nvSpPr>
        <p:spPr>
          <a:xfrm>
            <a:off x="9125992" y="8165269"/>
            <a:ext cx="707884" cy="769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???</a:t>
            </a:r>
            <a:endParaRPr kumimoji="0" lang="ru-RU" sz="44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ADE354-1ED1-8D15-D091-58ABB305E9C7}"/>
              </a:ext>
            </a:extLst>
          </p:cNvPr>
          <p:cNvSpPr txBox="1"/>
          <p:nvPr/>
        </p:nvSpPr>
        <p:spPr>
          <a:xfrm>
            <a:off x="3935752" y="8611543"/>
            <a:ext cx="3882190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dirty="0">
                <a:latin typeface="T-Sans" pitchFamily="2" charset="0"/>
                <a:ea typeface="T-Sans" pitchFamily="2" charset="0"/>
              </a:rPr>
              <a:t>Просто более модный способ написать один и тот же код?</a:t>
            </a:r>
            <a:endParaRPr kumimoji="0" lang="ru-RU" sz="24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229472438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1E5570F8-9A9F-285E-4E03-BD9A6CF4F0B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17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4E705-425A-AD37-7C82-42FF7D07134B}"/>
              </a:ext>
            </a:extLst>
          </p:cNvPr>
          <p:cNvSpPr txBox="1"/>
          <p:nvPr/>
        </p:nvSpPr>
        <p:spPr>
          <a:xfrm>
            <a:off x="1366838" y="1371557"/>
            <a:ext cx="16653976" cy="10248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7200" b="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Advanced – </a:t>
            </a:r>
            <a:r>
              <a:rPr lang="ru-RU" sz="7200" b="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а что под капотом?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C7B878-EA30-7CE0-B47F-9C6D305F1DA2}"/>
              </a:ext>
            </a:extLst>
          </p:cNvPr>
          <p:cNvSpPr txBox="1"/>
          <p:nvPr/>
        </p:nvSpPr>
        <p:spPr>
          <a:xfrm>
            <a:off x="1366838" y="2393194"/>
            <a:ext cx="14543323" cy="6370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Глянем </a:t>
            </a:r>
            <a:r>
              <a:rPr lang="ru-RU" sz="3600" dirty="0" err="1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байткод</a:t>
            </a:r>
            <a:endParaRPr lang="ru-RU" sz="3600" dirty="0">
              <a:solidFill>
                <a:schemeClr val="accent6"/>
              </a:solidFill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09171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Овал 18">
            <a:extLst>
              <a:ext uri="{FF2B5EF4-FFF2-40B4-BE49-F238E27FC236}">
                <a16:creationId xmlns:a16="http://schemas.microsoft.com/office/drawing/2014/main" id="{288CEEEE-BCBD-7734-3252-FF3AC14C10D4}"/>
              </a:ext>
            </a:extLst>
          </p:cNvPr>
          <p:cNvSpPr/>
          <p:nvPr/>
        </p:nvSpPr>
        <p:spPr>
          <a:xfrm>
            <a:off x="8793439" y="7099132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B46DD5D0-73BB-6478-1A6F-959CDA08A8F2}"/>
              </a:ext>
            </a:extLst>
          </p:cNvPr>
          <p:cNvSpPr/>
          <p:nvPr/>
        </p:nvSpPr>
        <p:spPr>
          <a:xfrm>
            <a:off x="18397678" y="7099132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CB2C"/>
              </a:gs>
              <a:gs pos="7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600" dirty="0">
              <a:solidFill>
                <a:schemeClr val="accent2"/>
              </a:solidFill>
              <a:latin typeface="T-Sans Medium" panose="02000506050000020004" pitchFamily="2" charset="0"/>
              <a:ea typeface="T-Sans Medium" panose="02000506050000020004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616E54-30FD-C24F-4510-1B530E508BE2}"/>
              </a:ext>
            </a:extLst>
          </p:cNvPr>
          <p:cNvSpPr txBox="1"/>
          <p:nvPr/>
        </p:nvSpPr>
        <p:spPr>
          <a:xfrm>
            <a:off x="611188" y="8333457"/>
            <a:ext cx="8844539" cy="22159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spcAft>
                <a:spcPts val="1800"/>
              </a:spcAft>
              <a:defRPr sz="2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sz="2400" dirty="0" err="1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i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nvokespecial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 – </a:t>
            </a:r>
            <a:r>
              <a:rPr lang="ru-RU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компилятор уже знает что и откуда вызывается. </a:t>
            </a:r>
          </a:p>
          <a:p>
            <a:r>
              <a:rPr lang="ru-RU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Диспетчеризация статическая, нет </a:t>
            </a:r>
            <a:r>
              <a:rPr lang="ru-RU" sz="2400" dirty="0" err="1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бутстрапа</a:t>
            </a:r>
            <a:r>
              <a:rPr lang="ru-RU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 (метод с первого раза вызывается напрямую).</a:t>
            </a:r>
          </a:p>
          <a:p>
            <a:r>
              <a:rPr lang="ru-RU" sz="24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Расходы минимальны, работает быстро</a:t>
            </a:r>
            <a:endParaRPr lang="ru-RU" sz="2400" dirty="0">
              <a:solidFill>
                <a:schemeClr val="tx2">
                  <a:lumMod val="75000"/>
                </a:schemeClr>
              </a:solidFill>
              <a:effectLst/>
              <a:latin typeface="T-Sans" pitchFamily="2" charset="0"/>
              <a:ea typeface="T-Sans" pitchFamily="2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A532F74-78B8-925F-9225-4C0C6D389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3554" y="7289247"/>
            <a:ext cx="654545" cy="65454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161B69-DBB5-828D-65CF-C05E0D67A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7793" y="7289247"/>
            <a:ext cx="654545" cy="65454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46891FBC-B508-BCE6-9300-5A1B84013E2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9" r="7829"/>
          <a:stretch>
            <a:fillRect/>
          </a:stretch>
        </p:blipFill>
        <p:spPr>
          <a:xfrm>
            <a:off x="400050" y="1376363"/>
            <a:ext cx="9429750" cy="6742112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99F528-54DF-9B36-47EE-67B7C5B52BF9}"/>
              </a:ext>
            </a:extLst>
          </p:cNvPr>
          <p:cNvSpPr txBox="1"/>
          <p:nvPr/>
        </p:nvSpPr>
        <p:spPr>
          <a:xfrm>
            <a:off x="3504467" y="591305"/>
            <a:ext cx="3221393" cy="769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Обычный код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483E9F-EBE9-0A5D-3B95-16A98E5CEC5F}"/>
              </a:ext>
            </a:extLst>
          </p:cNvPr>
          <p:cNvSpPr txBox="1"/>
          <p:nvPr/>
        </p:nvSpPr>
        <p:spPr>
          <a:xfrm>
            <a:off x="13689138" y="591304"/>
            <a:ext cx="1993492" cy="769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4400" dirty="0"/>
              <a:t>Лямбды</a:t>
            </a:r>
            <a:endParaRPr kumimoji="0" lang="ru-RU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E0247AE7-FE7C-7EDF-DE7A-92140B875590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9" r="7929"/>
          <a:stretch>
            <a:fillRect/>
          </a:stretch>
        </p:blipFill>
        <p:spPr>
          <a:xfrm>
            <a:off x="9971088" y="1360488"/>
            <a:ext cx="9429750" cy="6773418"/>
          </a:xfr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6DC15EB-0D8E-36A6-1E66-7D5755E8F114}"/>
              </a:ext>
            </a:extLst>
          </p:cNvPr>
          <p:cNvSpPr txBox="1"/>
          <p:nvPr/>
        </p:nvSpPr>
        <p:spPr>
          <a:xfrm>
            <a:off x="9971088" y="8324021"/>
            <a:ext cx="8844539" cy="22159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spcAft>
                <a:spcPts val="1800"/>
              </a:spcAft>
              <a:defRPr sz="2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sz="2400" b="1" dirty="0" err="1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i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nvoke</a:t>
            </a:r>
            <a:r>
              <a:rPr lang="ru-RU" sz="2400" b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dy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namic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– </a:t>
            </a:r>
            <a:r>
              <a:rPr lang="ru-RU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компилятор не знает что и откуда вызывается, это будет ясно только в </a:t>
            </a:r>
            <a:r>
              <a:rPr lang="ru-RU" sz="2400" dirty="0" err="1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рантайме</a:t>
            </a:r>
            <a:r>
              <a:rPr lang="ru-RU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.</a:t>
            </a:r>
          </a:p>
          <a:p>
            <a:r>
              <a:rPr lang="ru-RU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Диспетчеризация динамическая, </a:t>
            </a:r>
            <a:r>
              <a:rPr lang="ru-RU" sz="2400" dirty="0" err="1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бутстрап</a:t>
            </a:r>
            <a:r>
              <a:rPr lang="ru-RU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 через </a:t>
            </a:r>
            <a:r>
              <a:rPr lang="en-US" sz="2400" dirty="0" err="1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LambdaMetafactory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.</a:t>
            </a:r>
            <a:endParaRPr lang="ru-RU" sz="2400" dirty="0">
              <a:solidFill>
                <a:schemeClr val="tx2">
                  <a:lumMod val="75000"/>
                </a:schemeClr>
              </a:solidFill>
              <a:effectLst/>
              <a:latin typeface="T-Sans" pitchFamily="2" charset="0"/>
              <a:ea typeface="T-Sans" pitchFamily="2" charset="0"/>
            </a:endParaRPr>
          </a:p>
          <a:p>
            <a:r>
              <a:rPr lang="ru-RU" sz="24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Первый вызов будет дольше, потом будет кеширование.</a:t>
            </a:r>
            <a:endParaRPr lang="ru-RU" sz="2400" dirty="0">
              <a:solidFill>
                <a:schemeClr val="tx2">
                  <a:lumMod val="75000"/>
                </a:schemeClr>
              </a:solidFill>
              <a:effectLst/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978296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530F7A5D-F5D7-E6BD-747A-6D5284DA45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19</a:t>
            </a:fld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92D358-E8E5-63DF-1D61-218928D980C1}"/>
              </a:ext>
            </a:extLst>
          </p:cNvPr>
          <p:cNvSpPr txBox="1"/>
          <p:nvPr/>
        </p:nvSpPr>
        <p:spPr>
          <a:xfrm>
            <a:off x="622608" y="1499555"/>
            <a:ext cx="5704039" cy="7956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Библиотека позволяющая работать с ошибками в </a:t>
            </a:r>
            <a:r>
              <a:rPr lang="en-US" dirty="0">
                <a:latin typeface="T-Sans" pitchFamily="2" charset="0"/>
                <a:ea typeface="T-Sans" pitchFamily="2" charset="0"/>
              </a:rPr>
              <a:t>Java </a:t>
            </a:r>
            <a:r>
              <a:rPr lang="ru-RU" dirty="0">
                <a:latin typeface="T-Sans" pitchFamily="2" charset="0"/>
                <a:ea typeface="T-Sans" pitchFamily="2" charset="0"/>
              </a:rPr>
              <a:t>в более «функциональном» стиле.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AD1F9E-7A8E-0D3B-E2C0-8AFEE77263AB}"/>
              </a:ext>
            </a:extLst>
          </p:cNvPr>
          <p:cNvSpPr txBox="1"/>
          <p:nvPr/>
        </p:nvSpPr>
        <p:spPr>
          <a:xfrm>
            <a:off x="611188" y="645475"/>
            <a:ext cx="6587280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b="0" dirty="0" err="1">
                <a:latin typeface="T-Sans" pitchFamily="2" charset="0"/>
                <a:ea typeface="T-Sans" pitchFamily="2" charset="0"/>
              </a:rPr>
              <a:t>Vavr</a:t>
            </a:r>
            <a:endParaRPr lang="ru-RU" b="0" dirty="0">
              <a:latin typeface="T-Sans" pitchFamily="2" charset="0"/>
              <a:ea typeface="T-Sans" pitchFamily="2" charset="0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56AC23A-04C6-0CB7-4194-08E51495C828}"/>
              </a:ext>
            </a:extLst>
          </p:cNvPr>
          <p:cNvGrpSpPr/>
          <p:nvPr/>
        </p:nvGrpSpPr>
        <p:grpSpPr>
          <a:xfrm>
            <a:off x="7425942" y="680915"/>
            <a:ext cx="11448000" cy="9864725"/>
            <a:chOff x="7477170" y="647700"/>
            <a:chExt cx="11448000" cy="9864725"/>
          </a:xfrm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16DCC4B4-3EBC-8B3B-EA9A-30F82B9B5612}"/>
                </a:ext>
              </a:extLst>
            </p:cNvPr>
            <p:cNvSpPr/>
            <p:nvPr/>
          </p:nvSpPr>
          <p:spPr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50ABFB29-9A1D-4E9A-7806-2134A16A9F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2B004E8-4FC8-C030-6D79-CC671F3EFC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B31BB015-4971-4842-1ED0-CD88AC28F2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endParaRPr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EE763C6C-231F-5639-A9C0-7BF198248EBC}"/>
                </a:ext>
              </a:extLst>
            </p:cNvPr>
            <p:cNvSpPr/>
            <p:nvPr/>
          </p:nvSpPr>
          <p:spPr>
            <a:xfrm>
              <a:off x="7621170" y="1245510"/>
              <a:ext cx="11160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1BB3C3E-F912-C15C-C0E0-CE03FED0213B}"/>
              </a:ext>
            </a:extLst>
          </p:cNvPr>
          <p:cNvSpPr txBox="1"/>
          <p:nvPr/>
        </p:nvSpPr>
        <p:spPr>
          <a:xfrm>
            <a:off x="8071102" y="1461711"/>
            <a:ext cx="2714844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Старый ванильный </a:t>
            </a:r>
            <a:r>
              <a:rPr kumimoji="0" lang="en-US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java </a:t>
            </a:r>
            <a:r>
              <a:rPr lang="ru-RU" sz="1800" dirty="0">
                <a:latin typeface="T-Sans" pitchFamily="2" charset="0"/>
                <a:ea typeface="T-Sans" pitchFamily="2" charset="0"/>
              </a:rPr>
              <a:t>код</a:t>
            </a:r>
            <a:endParaRPr kumimoji="0" lang="ru-RU" sz="18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sym typeface="Tinkoff Sans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5384C42-D6AA-4427-9640-290ED4C72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0051" y="1831040"/>
            <a:ext cx="7673281" cy="30990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DB3B461-7A9B-AE79-2E4E-FD510B89BBAF}"/>
              </a:ext>
            </a:extLst>
          </p:cNvPr>
          <p:cNvSpPr txBox="1"/>
          <p:nvPr/>
        </p:nvSpPr>
        <p:spPr>
          <a:xfrm>
            <a:off x="7990051" y="5136335"/>
            <a:ext cx="4393188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Модный код на </a:t>
            </a:r>
            <a:r>
              <a:rPr kumimoji="0" lang="en-US" sz="180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vavr</a:t>
            </a:r>
            <a:r>
              <a:rPr kumimoji="0" lang="en-US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 </a:t>
            </a:r>
            <a:r>
              <a: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в функциональном стиле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1E409A1-3D04-E975-246F-A5BF6E4CA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0050" y="5613278"/>
            <a:ext cx="10539185" cy="132938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D2E4F0E-4FAD-CC2F-D26D-C27196286963}"/>
              </a:ext>
            </a:extLst>
          </p:cNvPr>
          <p:cNvSpPr txBox="1"/>
          <p:nvPr/>
        </p:nvSpPr>
        <p:spPr>
          <a:xfrm>
            <a:off x="611188" y="2389648"/>
            <a:ext cx="5704039" cy="36394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b="1" dirty="0">
                <a:latin typeface="T-Sans" pitchFamily="2" charset="0"/>
                <a:ea typeface="T-Sans" pitchFamily="2" charset="0"/>
              </a:rPr>
              <a:t>Плюсы</a:t>
            </a:r>
          </a:p>
          <a:p>
            <a:r>
              <a:rPr lang="en-US" dirty="0">
                <a:latin typeface="T-Sans" pitchFamily="2" charset="0"/>
                <a:ea typeface="T-Sans" pitchFamily="2" charset="0"/>
              </a:rPr>
              <a:t>+ </a:t>
            </a:r>
            <a:r>
              <a:rPr lang="ru-RU" dirty="0">
                <a:latin typeface="T-Sans" pitchFamily="2" charset="0"/>
                <a:ea typeface="T-Sans" pitchFamily="2" charset="0"/>
              </a:rPr>
              <a:t>Ошибка как значение, а не исключение</a:t>
            </a: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+ Более мощный </a:t>
            </a:r>
            <a:r>
              <a:rPr lang="en-US" dirty="0">
                <a:latin typeface="T-Sans" pitchFamily="2" charset="0"/>
                <a:ea typeface="T-Sans" pitchFamily="2" charset="0"/>
              </a:rPr>
              <a:t>Optional</a:t>
            </a: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+ Более мощные </a:t>
            </a:r>
            <a:r>
              <a:rPr lang="ru-RU" dirty="0" err="1">
                <a:latin typeface="T-Sans" pitchFamily="2" charset="0"/>
                <a:ea typeface="T-Sans" pitchFamily="2" charset="0"/>
              </a:rPr>
              <a:t>иммутабельные</a:t>
            </a:r>
            <a:r>
              <a:rPr lang="ru-RU" dirty="0">
                <a:latin typeface="T-Sans" pitchFamily="2" charset="0"/>
                <a:ea typeface="T-Sans" pitchFamily="2" charset="0"/>
              </a:rPr>
              <a:t> коллекции</a:t>
            </a: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+ </a:t>
            </a:r>
            <a:r>
              <a:rPr lang="ru-RU" dirty="0" err="1">
                <a:latin typeface="T-Sans" pitchFamily="2" charset="0"/>
                <a:ea typeface="T-Sans" pitchFamily="2" charset="0"/>
              </a:rPr>
              <a:t>Каррирование</a:t>
            </a:r>
            <a:endParaRPr lang="ru-RU" dirty="0">
              <a:latin typeface="T-Sans" pitchFamily="2" charset="0"/>
              <a:ea typeface="T-Sans" pitchFamily="2" charset="0"/>
            </a:endParaRP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+ </a:t>
            </a:r>
            <a:r>
              <a:rPr lang="en-US" dirty="0">
                <a:latin typeface="T-Sans" pitchFamily="2" charset="0"/>
                <a:ea typeface="T-Sans" pitchFamily="2" charset="0"/>
              </a:rPr>
              <a:t>pattern-matching, tuple </a:t>
            </a:r>
            <a:r>
              <a:rPr lang="ru-RU" dirty="0">
                <a:latin typeface="T-Sans" pitchFamily="2" charset="0"/>
                <a:ea typeface="T-Sans" pitchFamily="2" charset="0"/>
              </a:rPr>
              <a:t>и </a:t>
            </a:r>
            <a:r>
              <a:rPr lang="ru-RU" dirty="0" err="1">
                <a:latin typeface="T-Sans" pitchFamily="2" charset="0"/>
                <a:ea typeface="T-Sans" pitchFamily="2" charset="0"/>
              </a:rPr>
              <a:t>тд</a:t>
            </a:r>
            <a:endParaRPr lang="en-US" dirty="0">
              <a:latin typeface="T-Sans" pitchFamily="2" charset="0"/>
              <a:ea typeface="T-Sans" pitchFamily="2" charset="0"/>
            </a:endParaRPr>
          </a:p>
          <a:p>
            <a:endParaRPr lang="en-US" dirty="0">
              <a:latin typeface="T-Sans" pitchFamily="2" charset="0"/>
              <a:ea typeface="T-Sans" pitchFamily="2" charset="0"/>
            </a:endParaRPr>
          </a:p>
          <a:p>
            <a:r>
              <a:rPr lang="ru-RU" b="1" dirty="0">
                <a:latin typeface="T-Sans" pitchFamily="2" charset="0"/>
                <a:ea typeface="T-Sans" pitchFamily="2" charset="0"/>
              </a:rPr>
              <a:t>Минусы</a:t>
            </a:r>
          </a:p>
          <a:p>
            <a:r>
              <a:rPr lang="ru-RU" dirty="0">
                <a:latin typeface="T-Sans" pitchFamily="2" charset="0"/>
                <a:ea typeface="T-Sans" pitchFamily="2" charset="0"/>
              </a:rPr>
              <a:t>- Его нет в ванильной </a:t>
            </a:r>
            <a:r>
              <a:rPr lang="en-US" dirty="0">
                <a:latin typeface="T-Sans" pitchFamily="2" charset="0"/>
                <a:ea typeface="T-Sans" pitchFamily="2" charset="0"/>
              </a:rPr>
              <a:t>Java</a:t>
            </a:r>
            <a:r>
              <a:rPr lang="ru-RU" dirty="0">
                <a:latin typeface="T-Sans" pitchFamily="2" charset="0"/>
                <a:ea typeface="T-Sans" pitchFamily="2" charset="0"/>
              </a:rPr>
              <a:t>, надо подключать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7834A9-25FA-ADFC-5175-0FCB6FB2D00D}"/>
              </a:ext>
            </a:extLst>
          </p:cNvPr>
          <p:cNvSpPr txBox="1"/>
          <p:nvPr/>
        </p:nvSpPr>
        <p:spPr>
          <a:xfrm>
            <a:off x="622608" y="7036777"/>
            <a:ext cx="6575860" cy="3477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" sz="2200" dirty="0" err="1">
                <a:latin typeface="T-Sans" pitchFamily="2" charset="0"/>
                <a:ea typeface="T-Sans" pitchFamily="2" charset="0"/>
              </a:rPr>
              <a:t>Vavr</a:t>
            </a:r>
            <a:r>
              <a:rPr lang="en" sz="2200" dirty="0">
                <a:latin typeface="T-Sans" pitchFamily="2" charset="0"/>
                <a:ea typeface="T-Sans" pitchFamily="2" charset="0"/>
              </a:rPr>
              <a:t> </a:t>
            </a:r>
            <a:r>
              <a:rPr lang="ru-RU" sz="2200" dirty="0">
                <a:latin typeface="T-Sans" pitchFamily="2" charset="0"/>
                <a:ea typeface="T-Sans" pitchFamily="2" charset="0"/>
              </a:rPr>
              <a:t>делает программирование декларативным. </a:t>
            </a:r>
          </a:p>
          <a:p>
            <a:endParaRPr lang="ru-RU" sz="2200" dirty="0">
              <a:latin typeface="T-Sans" pitchFamily="2" charset="0"/>
              <a:ea typeface="T-Sans" pitchFamily="2" charset="0"/>
            </a:endParaRPr>
          </a:p>
          <a:p>
            <a:r>
              <a:rPr lang="ru-RU" sz="2200" dirty="0">
                <a:latin typeface="T-Sans" pitchFamily="2" charset="0"/>
                <a:ea typeface="T-Sans" pitchFamily="2" charset="0"/>
              </a:rPr>
              <a:t>Ошибки, отсутствие значения, побочные эффекты — всё это становится значениями и типами, видимыми в сигнатуре, а не скрытым поведением.</a:t>
            </a:r>
            <a:br>
              <a:rPr lang="ru-RU" sz="2200" dirty="0">
                <a:latin typeface="T-Sans" pitchFamily="2" charset="0"/>
                <a:ea typeface="T-Sans" pitchFamily="2" charset="0"/>
              </a:rPr>
            </a:br>
            <a:endParaRPr lang="ru-RU" sz="2200" dirty="0">
              <a:latin typeface="T-Sans" pitchFamily="2" charset="0"/>
              <a:ea typeface="T-Sans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200" b="1" dirty="0">
                <a:latin typeface="T-Sans" pitchFamily="2" charset="0"/>
                <a:ea typeface="T-Sans" pitchFamily="2" charset="0"/>
              </a:rPr>
              <a:t>Java</a:t>
            </a:r>
            <a:r>
              <a:rPr lang="en" sz="2200" dirty="0">
                <a:latin typeface="T-Sans" pitchFamily="2" charset="0"/>
                <a:ea typeface="T-Sans" pitchFamily="2" charset="0"/>
              </a:rPr>
              <a:t> </a:t>
            </a:r>
            <a:r>
              <a:rPr lang="ru-RU" sz="2200" dirty="0">
                <a:latin typeface="T-Sans" pitchFamily="2" charset="0"/>
                <a:ea typeface="T-Sans" pitchFamily="2" charset="0"/>
              </a:rPr>
              <a:t>= состояние + команды + исключения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200" b="1" dirty="0" err="1">
                <a:latin typeface="T-Sans" pitchFamily="2" charset="0"/>
                <a:ea typeface="T-Sans" pitchFamily="2" charset="0"/>
              </a:rPr>
              <a:t>Vavr</a:t>
            </a:r>
            <a:r>
              <a:rPr lang="en" sz="2200" b="1" dirty="0">
                <a:latin typeface="T-Sans" pitchFamily="2" charset="0"/>
                <a:ea typeface="T-Sans" pitchFamily="2" charset="0"/>
              </a:rPr>
              <a:t> </a:t>
            </a:r>
            <a:r>
              <a:rPr lang="ru-RU" sz="2200" dirty="0">
                <a:latin typeface="T-Sans" pitchFamily="2" charset="0"/>
                <a:ea typeface="T-Sans" pitchFamily="2" charset="0"/>
              </a:rPr>
              <a:t>=</a:t>
            </a:r>
            <a:r>
              <a:rPr lang="ru-RU" sz="2200" b="1" dirty="0">
                <a:latin typeface="T-Sans" pitchFamily="2" charset="0"/>
                <a:ea typeface="T-Sans" pitchFamily="2" charset="0"/>
              </a:rPr>
              <a:t> </a:t>
            </a:r>
            <a:r>
              <a:rPr lang="ru-RU" sz="2200" dirty="0">
                <a:latin typeface="T-Sans" pitchFamily="2" charset="0"/>
                <a:ea typeface="T-Sans" pitchFamily="2" charset="0"/>
              </a:rPr>
              <a:t>данные + чистые функции + ошибка как значение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ru-RU" sz="22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13355C-FFF8-6570-07E1-638C850E8EA5}"/>
              </a:ext>
            </a:extLst>
          </p:cNvPr>
          <p:cNvSpPr txBox="1"/>
          <p:nvPr/>
        </p:nvSpPr>
        <p:spPr>
          <a:xfrm>
            <a:off x="7949407" y="7641480"/>
            <a:ext cx="7810791" cy="1200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Наш код стал короче и моднее! </a:t>
            </a:r>
            <a:endParaRPr kumimoji="0" lang="en-US" sz="18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sym typeface="Tinkoff San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Теперь он написан через лямбды и функциональный стиль и похож на </a:t>
            </a:r>
            <a:r>
              <a:rPr kumimoji="0" lang="ru-RU" sz="180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пайплайн</a:t>
            </a:r>
            <a:r>
              <a: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.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ru-RU" sz="1800" dirty="0">
              <a:latin typeface="T-Sans" pitchFamily="2" charset="0"/>
              <a:ea typeface="T-Sans" pitchFamily="2" charset="0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И это лишь крошечная часть того, что можно реализовать через </a:t>
            </a:r>
            <a:r>
              <a:rPr kumimoji="0" lang="en-US" sz="180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Vavr</a:t>
            </a:r>
            <a:r>
              <a:rPr kumimoji="0" lang="en-US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.</a:t>
            </a:r>
            <a:endParaRPr kumimoji="0" lang="ru-RU" sz="18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2741292357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685800"/>
            <a:ext cx="175564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Этап</a:t>
            </a:r>
            <a:r>
              <a:rPr sz="4200" dirty="0">
                <a:solidFill>
                  <a:srgbClr val="0A0A0A"/>
                </a:solidFill>
                <a:latin typeface="T-Sans"/>
                <a:ea typeface="T-Sans" pitchFamily="2" charset="0"/>
              </a:rPr>
              <a:t> 9. </a:t>
            </a:r>
            <a:r>
              <a:rPr sz="42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Итоги</a:t>
            </a:r>
            <a:endParaRPr sz="4200" dirty="0">
              <a:solidFill>
                <a:srgbClr val="0A0A0A"/>
              </a:solidFill>
              <a:latin typeface="T-Sans"/>
              <a:ea typeface="T-Sans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691640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Filter-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классы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заменены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Predicate&lt;Instrument&gt;</a:t>
            </a:r>
          </a:p>
          <a:p>
            <a:pPr>
              <a:spcAft>
                <a:spcPts val="1200"/>
              </a:spcAft>
            </a:pP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Разобрали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,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во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что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лямбда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компилируется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(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invokedynamic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)</a:t>
            </a:r>
          </a:p>
          <a:p>
            <a:pPr>
              <a:spcAft>
                <a:spcPts val="1200"/>
              </a:spcAft>
            </a:pP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InstrumentFactories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стал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частным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случаем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Registry&lt;K,V&gt;</a:t>
            </a:r>
          </a:p>
          <a:p>
            <a:pPr>
              <a:spcAft>
                <a:spcPts val="1200"/>
              </a:spcAft>
            </a:pP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findByTicker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/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Registry.get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()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больше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не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возвращают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null</a:t>
            </a:r>
          </a:p>
          <a:p>
            <a:pPr>
              <a:spcAft>
                <a:spcPts val="1200"/>
              </a:spcAft>
            </a:pP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Познакомились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с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Try/Either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из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Vavr</a:t>
            </a:r>
            <a:endParaRPr sz="2400" dirty="0">
              <a:solidFill>
                <a:srgbClr val="0A0A0A"/>
              </a:solidFill>
              <a:latin typeface="T-Sans"/>
              <a:ea typeface="T-Sans" pitchFamily="2" charset="0"/>
            </a:endParaRPr>
          </a:p>
          <a:p>
            <a:pPr>
              <a:spcAft>
                <a:spcPts val="1200"/>
              </a:spcAft>
            </a:pP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Следующий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семинар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: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обработка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ошибок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и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исключений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,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замер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оверхеда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</a:t>
            </a:r>
            <a:r>
              <a:rPr sz="2400" dirty="0" err="1">
                <a:solidFill>
                  <a:srgbClr val="0A0A0A"/>
                </a:solidFill>
                <a:latin typeface="T-Sans"/>
                <a:ea typeface="T-Sans" pitchFamily="2" charset="0"/>
              </a:rPr>
              <a:t>через</a:t>
            </a:r>
            <a:r>
              <a:rPr sz="2400" dirty="0">
                <a:solidFill>
                  <a:srgbClr val="0A0A0A"/>
                </a:solidFill>
                <a:latin typeface="T-Sans"/>
                <a:ea typeface="T-Sans" pitchFamily="2" charset="0"/>
              </a:rPr>
              <a:t> JMH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7A1CC713-6638-B051-DE5B-D72BC1A4512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21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51D9ED3-5D42-B993-8C58-065A41527B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19730" y="-109723"/>
            <a:ext cx="11379570" cy="113795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A4D5B0-3517-BE1E-47E7-1B04259B55B3}"/>
              </a:ext>
            </a:extLst>
          </p:cNvPr>
          <p:cNvSpPr txBox="1"/>
          <p:nvPr/>
        </p:nvSpPr>
        <p:spPr>
          <a:xfrm>
            <a:off x="1366838" y="1366838"/>
            <a:ext cx="8750289" cy="1138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8000" dirty="0">
                <a:solidFill>
                  <a:schemeClr val="tx1"/>
                </a:solidFill>
                <a:latin typeface="T-Sans" pitchFamily="2" charset="0"/>
                <a:ea typeface="T-Sans" pitchFamily="2" charset="0"/>
              </a:rPr>
              <a:t>Итоги 3 семинара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1671E9-E545-2FF1-F98E-9597F7D63B6D}"/>
              </a:ext>
            </a:extLst>
          </p:cNvPr>
          <p:cNvSpPr txBox="1"/>
          <p:nvPr/>
        </p:nvSpPr>
        <p:spPr>
          <a:xfrm>
            <a:off x="2399771" y="2505611"/>
            <a:ext cx="8149695" cy="45243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R="0" algn="l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ru-RU" sz="2400" dirty="0">
                <a:latin typeface="T-Sans" pitchFamily="2" charset="0"/>
                <a:ea typeface="T-Sans" pitchFamily="2" charset="0"/>
              </a:rPr>
              <a:t>Разобрались что такое функциональное программирование и как оно выглядит в </a:t>
            </a:r>
            <a:r>
              <a:rPr lang="ru-RU" sz="2400" dirty="0" err="1">
                <a:latin typeface="T-Sans" pitchFamily="2" charset="0"/>
                <a:ea typeface="T-Sans" pitchFamily="2" charset="0"/>
              </a:rPr>
              <a:t>джаве</a:t>
            </a:r>
            <a:endParaRPr lang="ru-RU" sz="2400" dirty="0">
              <a:latin typeface="T-Sans" pitchFamily="2" charset="0"/>
              <a:ea typeface="T-Sans" pitchFamily="2" charset="0"/>
            </a:endParaRPr>
          </a:p>
          <a:p>
            <a:pPr marR="0" algn="l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Разобрались с </a:t>
            </a:r>
            <a:r>
              <a:rPr kumimoji="0" lang="ru-RU" sz="24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генериками</a:t>
            </a: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 и </a:t>
            </a:r>
            <a:r>
              <a:rPr lang="ru-RU" sz="2400" dirty="0">
                <a:latin typeface="T-Sans" pitchFamily="2" charset="0"/>
                <a:ea typeface="T-Sans" pitchFamily="2" charset="0"/>
              </a:rPr>
              <a:t>особенностями их работы</a:t>
            </a:r>
          </a:p>
          <a:p>
            <a:pPr marR="0" algn="l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Посмотре</a:t>
            </a:r>
            <a:r>
              <a:rPr lang="ru-RU" sz="2400" dirty="0">
                <a:latin typeface="T-Sans" pitchFamily="2" charset="0"/>
                <a:ea typeface="T-Sans" pitchFamily="2" charset="0"/>
              </a:rPr>
              <a:t>ли на </a:t>
            </a:r>
            <a:r>
              <a:rPr lang="en-US" sz="2400" dirty="0">
                <a:latin typeface="T-Sans" pitchFamily="2" charset="0"/>
                <a:ea typeface="T-Sans" pitchFamily="2" charset="0"/>
              </a:rPr>
              <a:t>Optional (</a:t>
            </a:r>
            <a:r>
              <a:rPr lang="ru-RU" sz="2400" dirty="0">
                <a:latin typeface="T-Sans" pitchFamily="2" charset="0"/>
                <a:ea typeface="T-Sans" pitchFamily="2" charset="0"/>
              </a:rPr>
              <a:t>лямбды + </a:t>
            </a:r>
            <a:r>
              <a:rPr lang="ru-RU" sz="2400" dirty="0" err="1">
                <a:latin typeface="T-Sans" pitchFamily="2" charset="0"/>
                <a:ea typeface="T-Sans" pitchFamily="2" charset="0"/>
              </a:rPr>
              <a:t>генерики</a:t>
            </a:r>
            <a:r>
              <a:rPr lang="ru-RU" sz="2400" dirty="0">
                <a:latin typeface="T-Sans" pitchFamily="2" charset="0"/>
                <a:ea typeface="T-Sans" pitchFamily="2" charset="0"/>
              </a:rPr>
              <a:t>)</a:t>
            </a:r>
          </a:p>
          <a:p>
            <a:pPr marR="0" algn="l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Улучшили наше приложение</a:t>
            </a:r>
          </a:p>
          <a:p>
            <a:pPr lvl="1" indent="0" defTabSz="457200">
              <a:lnSpc>
                <a:spcPct val="150000"/>
              </a:lnSpc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	- Переписали наши 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strategy </a:t>
            </a:r>
            <a:r>
              <a:rPr lang="ru-RU" sz="2400" dirty="0">
                <a:latin typeface="T-Sans" pitchFamily="2" charset="0"/>
                <a:ea typeface="T-Sans" pitchFamily="2" charset="0"/>
              </a:rPr>
              <a:t>на лямбды</a:t>
            </a:r>
          </a:p>
          <a:p>
            <a:pPr lvl="1" indent="0" defTabSz="457200">
              <a:lnSpc>
                <a:spcPct val="150000"/>
              </a:lnSpc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	- До</a:t>
            </a:r>
            <a:r>
              <a:rPr lang="ru-RU" sz="2400" dirty="0">
                <a:latin typeface="T-Sans" pitchFamily="2" charset="0"/>
                <a:ea typeface="T-Sans" pitchFamily="2" charset="0"/>
              </a:rPr>
              <a:t>бавили </a:t>
            </a:r>
            <a:r>
              <a:rPr lang="en-US" sz="2400" dirty="0">
                <a:latin typeface="T-Sans" pitchFamily="2" charset="0"/>
                <a:ea typeface="T-Sans" pitchFamily="2" charset="0"/>
              </a:rPr>
              <a:t>Registry&lt;K, V&gt; </a:t>
            </a:r>
            <a:r>
              <a:rPr lang="ru-RU" sz="2400" dirty="0">
                <a:latin typeface="T-Sans" pitchFamily="2" charset="0"/>
                <a:ea typeface="T-Sans" pitchFamily="2" charset="0"/>
              </a:rPr>
              <a:t>для наш</a:t>
            </a:r>
            <a:r>
              <a:rPr lang="en-US" sz="2400" dirty="0">
                <a:latin typeface="T-Sans" pitchFamily="2" charset="0"/>
                <a:ea typeface="T-Sans" pitchFamily="2" charset="0"/>
              </a:rPr>
              <a:t>e</a:t>
            </a:r>
            <a:r>
              <a:rPr lang="ru-RU" sz="2400" dirty="0">
                <a:latin typeface="T-Sans" pitchFamily="2" charset="0"/>
                <a:ea typeface="T-Sans" pitchFamily="2" charset="0"/>
              </a:rPr>
              <a:t>й </a:t>
            </a:r>
            <a:r>
              <a:rPr lang="en-US" sz="2400" dirty="0">
                <a:latin typeface="T-Sans" pitchFamily="2" charset="0"/>
                <a:ea typeface="T-Sans" pitchFamily="2" charset="0"/>
              </a:rPr>
              <a:t>factory</a:t>
            </a:r>
            <a:endParaRPr lang="ru-RU" sz="2400" dirty="0">
              <a:latin typeface="T-Sans" pitchFamily="2" charset="0"/>
              <a:ea typeface="T-Sans" pitchFamily="2" charset="0"/>
            </a:endParaRPr>
          </a:p>
          <a:p>
            <a:pPr lvl="1" indent="0" defTabSz="457200">
              <a:lnSpc>
                <a:spcPct val="150000"/>
              </a:lnSpc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	- </a:t>
            </a:r>
            <a:r>
              <a:rPr lang="ru-RU" sz="2400" dirty="0">
                <a:latin typeface="T-Sans" pitchFamily="2" charset="0"/>
                <a:ea typeface="T-Sans" pitchFamily="2" charset="0"/>
              </a:rPr>
              <a:t>Обезопасили наш репозиторий через </a:t>
            </a:r>
            <a:r>
              <a:rPr lang="en-US" sz="2400" dirty="0">
                <a:latin typeface="T-Sans" pitchFamily="2" charset="0"/>
                <a:ea typeface="T-Sans" pitchFamily="2" charset="0"/>
              </a:rPr>
              <a:t>Optional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946538-793E-7BD2-36F4-F03106A25C5D}"/>
              </a:ext>
            </a:extLst>
          </p:cNvPr>
          <p:cNvSpPr txBox="1"/>
          <p:nvPr/>
        </p:nvSpPr>
        <p:spPr>
          <a:xfrm>
            <a:off x="2399771" y="7493800"/>
            <a:ext cx="8660860" cy="19389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b="1" dirty="0"/>
              <a:t>А так же!</a:t>
            </a:r>
          </a:p>
          <a:p>
            <a:pPr marR="0" algn="l" defTabSz="457200" rtl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ru-RU" sz="2400" dirty="0"/>
              <a:t>Посмотрели под капотом на отличие в </a:t>
            </a:r>
            <a:r>
              <a:rPr lang="ru-RU" sz="2400" dirty="0" err="1"/>
              <a:t>байткоде</a:t>
            </a:r>
            <a:r>
              <a:rPr lang="en-US" sz="2400" dirty="0"/>
              <a:t> </a:t>
            </a:r>
            <a:r>
              <a:rPr lang="ru-RU" sz="2400" dirty="0"/>
              <a:t>с лямбдами</a:t>
            </a:r>
            <a:endParaRPr lang="en-US" sz="2400" dirty="0"/>
          </a:p>
          <a:p>
            <a:pPr marR="0" algn="l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Немного познакомились с </a:t>
            </a:r>
            <a:r>
              <a:rPr kumimoji="0" lang="en-US" sz="24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Vavr</a:t>
            </a: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библиоте</a:t>
            </a:r>
            <a:r>
              <a:rPr lang="ru-RU" sz="2400" dirty="0"/>
              <a:t>кой</a:t>
            </a: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B69CA67-02F8-05BF-3211-08F0759CC8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5989" y="2505611"/>
            <a:ext cx="720000" cy="72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C269B33-6EA9-92CE-8356-C38C8C1C1C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686" y="3577708"/>
            <a:ext cx="720000" cy="720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D126706-17BD-D746-4022-3C1894AB40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553" y="4720684"/>
            <a:ext cx="720000" cy="720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314A320-0977-1701-F68D-5E31A7CAF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838" y="7493800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81495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513036B3-80E0-4378-42AA-E09684F42BE9}"/>
              </a:ext>
            </a:extLst>
          </p:cNvPr>
          <p:cNvGrpSpPr/>
          <p:nvPr/>
        </p:nvGrpSpPr>
        <p:grpSpPr>
          <a:xfrm>
            <a:off x="1943100" y="3075009"/>
            <a:ext cx="7302500" cy="4529976"/>
            <a:chOff x="1943100" y="2934186"/>
            <a:chExt cx="7302500" cy="452997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216822C-1161-C64B-5143-FB1B67D9D1BA}"/>
                </a:ext>
              </a:extLst>
            </p:cNvPr>
            <p:cNvSpPr txBox="1"/>
            <p:nvPr/>
          </p:nvSpPr>
          <p:spPr>
            <a:xfrm>
              <a:off x="1946564" y="2934186"/>
              <a:ext cx="7299036" cy="30192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>
              <a:defPPr marL="0" marR="0" indent="0" algn="l" defTabSz="90006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73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>
                <a:lnSpc>
                  <a:spcPct val="90000"/>
                </a:lnSpc>
                <a:defRPr sz="6000" b="1">
                  <a:solidFill>
                    <a:schemeClr val="accent2"/>
                  </a:solidFill>
                  <a:latin typeface="Tinkoff Sans" panose="02000506050000020004" pitchFamily="2" charset="0"/>
                </a:defRPr>
              </a:lvl1pPr>
            </a:lstStyle>
            <a:p>
              <a:r>
                <a:rPr lang="ru-RU" sz="7200" b="0" dirty="0">
                  <a:latin typeface="T-Sans" pitchFamily="2" charset="0"/>
                  <a:ea typeface="T-Sans" pitchFamily="2" charset="0"/>
                </a:rPr>
                <a:t>Оставьте, пожалуйста, обратную связь!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C5D8327-AB0B-6ED6-BC38-664C67DF128C}"/>
                </a:ext>
              </a:extLst>
            </p:cNvPr>
            <p:cNvSpPr txBox="1"/>
            <p:nvPr/>
          </p:nvSpPr>
          <p:spPr>
            <a:xfrm>
              <a:off x="1943100" y="6531599"/>
              <a:ext cx="7302500" cy="9325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>
              <a:defPPr marL="0" marR="0" indent="0" algn="l" defTabSz="90006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73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>
                <a:lnSpc>
                  <a:spcPct val="130000"/>
                </a:lnSpc>
                <a:defRPr sz="2400">
                  <a:solidFill>
                    <a:schemeClr val="tx2">
                      <a:lumMod val="75000"/>
                    </a:schemeClr>
                  </a:solidFill>
                  <a:latin typeface="Tinkoff Sans" panose="02000506050000020004" pitchFamily="2" charset="0"/>
                </a:defRPr>
              </a:lvl1pPr>
              <a:lvl2pPr marL="1199924" indent="-445133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2pPr>
              <a:lvl3pPr marL="2035650" indent="-52606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3pPr>
              <a:lvl4pPr marL="2863001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4pPr>
              <a:lvl5pPr marL="3617794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5pPr>
              <a:lvl6pPr marL="4372585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6pPr>
              <a:lvl7pPr marL="5127377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7pPr>
              <a:lvl8pPr marL="5882168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8pPr>
              <a:lvl9pPr marL="6636960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9pPr>
            </a:lstStyle>
            <a:p>
              <a:r>
                <a:rPr lang="ru-RU" dirty="0">
                  <a:solidFill>
                    <a:schemeClr val="tx2">
                      <a:lumMod val="50000"/>
                    </a:schemeClr>
                  </a:solidFill>
                  <a:latin typeface="T-Sans" pitchFamily="2" charset="0"/>
                  <a:ea typeface="T-Sans" pitchFamily="2" charset="0"/>
                </a:rPr>
                <a:t>Обратная связь позволяет нам самосовершенствоваться и делать курс лучше!</a:t>
              </a:r>
            </a:p>
          </p:txBody>
        </p:sp>
      </p:grp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F82FE40B-D930-B8C8-967E-4D55B74CFBE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22</a:t>
            </a:fld>
            <a:endParaRPr lang="ru-RU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4B815C0-2206-D951-BD7A-72EFA044EB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482984805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C2230F0-CF79-107D-8823-9E107D8A6CF9}"/>
              </a:ext>
            </a:extLst>
          </p:cNvPr>
          <p:cNvSpPr txBox="1"/>
          <p:nvPr/>
        </p:nvSpPr>
        <p:spPr>
          <a:xfrm>
            <a:off x="1520526" y="6644006"/>
            <a:ext cx="10023773" cy="29200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5400" b="1">
                <a:solidFill>
                  <a:srgbClr val="ADB0B4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80000"/>
              </a:lnSpc>
            </a:pPr>
            <a:r>
              <a:rPr lang="ru-RU" sz="11500" b="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Спасибо </a:t>
            </a:r>
            <a:br>
              <a:rPr lang="ru-RU" sz="11500" b="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</a:br>
            <a:r>
              <a:rPr lang="ru-RU" sz="11500" b="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за внимание! 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5D588F52-4DD6-A73F-50AE-C643A677524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139738" y="647700"/>
            <a:ext cx="6045749" cy="9864725"/>
          </a:xfr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</p:spPr>
      </p:pic>
    </p:spTree>
    <p:extLst>
      <p:ext uri="{BB962C8B-B14F-4D97-AF65-F5344CB8AC3E}">
        <p14:creationId xmlns:p14="http://schemas.microsoft.com/office/powerpoint/2010/main" val="2758452886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Пользовательские 13">
      <a:dk1>
        <a:srgbClr val="333333"/>
      </a:dk1>
      <a:lt1>
        <a:srgbClr val="333333"/>
      </a:lt1>
      <a:dk2>
        <a:srgbClr val="757675"/>
      </a:dk2>
      <a:lt2>
        <a:srgbClr val="585858"/>
      </a:lt2>
      <a:accent1>
        <a:srgbClr val="FFDD2C"/>
      </a:accent1>
      <a:accent2>
        <a:srgbClr val="333333"/>
      </a:accent2>
      <a:accent3>
        <a:srgbClr val="BFBFBF"/>
      </a:accent3>
      <a:accent4>
        <a:srgbClr val="E0E1E3"/>
      </a:accent4>
      <a:accent5>
        <a:srgbClr val="EFF0F1"/>
      </a:accent5>
      <a:accent6>
        <a:srgbClr val="FFFFFF"/>
      </a:accent6>
      <a:hlink>
        <a:srgbClr val="333333"/>
      </a:hlink>
      <a:folHlink>
        <a:srgbClr val="52545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>
          <a:gsLst>
            <a:gs pos="0">
              <a:srgbClr val="E0E1E3"/>
            </a:gs>
            <a:gs pos="100000">
              <a:srgbClr val="F3F3F5"/>
            </a:gs>
          </a:gsLst>
          <a:lin ang="2700000" scaled="0"/>
        </a:gradFill>
        <a:ln w="12700" cap="flat">
          <a:noFill/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noAutofit/>
      </a:bodyPr>
      <a:lstStyle>
        <a:defPPr algn="l" defTabSz="457200">
          <a:defRPr sz="1800" dirty="0">
            <a:latin typeface="T-Sans" pitchFamily="2" charset="0"/>
            <a:ea typeface="T-Sans" pitchFamily="2" charset="0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CC520"/>
      </a:accent1>
      <a:accent2>
        <a:srgbClr val="DEDEDE"/>
      </a:accent2>
      <a:accent3>
        <a:srgbClr val="585858"/>
      </a:accent3>
      <a:accent4>
        <a:srgbClr val="BCBCBC"/>
      </a:accent4>
      <a:accent5>
        <a:srgbClr val="B1C5FA"/>
      </a:accent5>
      <a:accent6>
        <a:srgbClr val="6236FF"/>
      </a:accent6>
      <a:hlink>
        <a:srgbClr val="0000FF"/>
      </a:hlink>
      <a:folHlink>
        <a:srgbClr val="FF00FF"/>
      </a:folHlink>
    </a:clrScheme>
    <a:fontScheme name="Тема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54857</TotalTime>
  <Words>1371</Words>
  <Application>Microsoft Macintosh PowerPoint</Application>
  <PresentationFormat>Custom</PresentationFormat>
  <Paragraphs>215</Paragraphs>
  <Slides>24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Tinkoff Sans</vt:lpstr>
      <vt:lpstr>Wingdings</vt:lpstr>
      <vt:lpstr>T-Sans</vt:lpstr>
      <vt:lpstr>T-Sans Medium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an khasanov</cp:lastModifiedBy>
  <cp:revision>1196</cp:revision>
  <dcterms:modified xsi:type="dcterms:W3CDTF">2026-09-24T15:09:40Z</dcterms:modified>
</cp:coreProperties>
</file>